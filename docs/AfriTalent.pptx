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05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52BD6-279C-471D-ACE7-76DE1DD12C9E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A0E6E-47FD-493C-BEB1-3B6E0D6C5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697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24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09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71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482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912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495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5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27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36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599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848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8437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65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1669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2885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426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1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AEA69-F7D5-4E98-8798-F883E9CC844A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DEA8F-D35D-4AD1-9560-A055361F3A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760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06" r:id="rId1"/>
    <p:sldLayoutId id="2147484407" r:id="rId2"/>
    <p:sldLayoutId id="2147484408" r:id="rId3"/>
    <p:sldLayoutId id="2147484409" r:id="rId4"/>
    <p:sldLayoutId id="2147484410" r:id="rId5"/>
    <p:sldLayoutId id="2147484411" r:id="rId6"/>
    <p:sldLayoutId id="2147484412" r:id="rId7"/>
    <p:sldLayoutId id="2147484413" r:id="rId8"/>
    <p:sldLayoutId id="2147484414" r:id="rId9"/>
    <p:sldLayoutId id="2147484415" r:id="rId10"/>
    <p:sldLayoutId id="2147484416" r:id="rId11"/>
    <p:sldLayoutId id="2147484417" r:id="rId12"/>
    <p:sldLayoutId id="2147484418" r:id="rId13"/>
    <p:sldLayoutId id="2147484419" r:id="rId14"/>
    <p:sldLayoutId id="2147484420" r:id="rId15"/>
    <p:sldLayoutId id="2147484421" r:id="rId16"/>
    <p:sldLayoutId id="214748442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ndeye-sylla-tague.github.io/Tague-NdeyeSylla-Afritalent/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CC8F25-5953-944B-29CB-B08DE3E3882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743200" y="627855"/>
            <a:ext cx="7954963" cy="1751013"/>
          </a:xfrm>
        </p:spPr>
        <p:txBody>
          <a:bodyPr/>
          <a:lstStyle/>
          <a:p>
            <a:r>
              <a:rPr lang="en-US" sz="6000" b="1" dirty="0" err="1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br>
              <a:rPr lang="en-US" sz="6000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E9F935D-FBAF-9FFC-BF95-9F8991CDFD0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2498725"/>
            <a:ext cx="9388475" cy="2855913"/>
          </a:xfrm>
        </p:spPr>
        <p:txBody>
          <a:bodyPr>
            <a:normAutofit fontScale="25000" lnSpcReduction="20000"/>
          </a:bodyPr>
          <a:lstStyle/>
          <a:p>
            <a:pPr lvl="2"/>
            <a:r>
              <a:rPr lang="en-US" sz="9800" b="1" dirty="0">
                <a:latin typeface="Bahnschrift Condensed" panose="020B0502040204020203" pitchFamily="34" charset="0"/>
              </a:rPr>
              <a:t> </a:t>
            </a:r>
            <a:r>
              <a:rPr lang="en-US" sz="12800" b="1" dirty="0" err="1">
                <a:latin typeface="Bahnschrift Condensed" panose="020B0502040204020203" pitchFamily="34" charset="0"/>
              </a:rPr>
              <a:t>Projet</a:t>
            </a:r>
            <a:r>
              <a:rPr lang="en-US" sz="12800" b="1" dirty="0">
                <a:latin typeface="Bahnschrift Condensed" panose="020B0502040204020203" pitchFamily="34" charset="0"/>
              </a:rPr>
              <a:t> : </a:t>
            </a:r>
            <a:r>
              <a:rPr lang="fr-FR" sz="12800" b="1" dirty="0" err="1">
                <a:latin typeface="Bahnschrift SemiCondensed" panose="020B0502040204020203" pitchFamily="34" charset="0"/>
              </a:rPr>
              <a:t>Afrialent</a:t>
            </a:r>
            <a:r>
              <a:rPr lang="fr-FR" sz="12800" b="1" dirty="0">
                <a:latin typeface="Bahnschrift SemiCondensed" panose="020B0502040204020203" pitchFamily="34" charset="0"/>
              </a:rPr>
              <a:t> – Site Vitrine Freelance</a:t>
            </a:r>
            <a:endParaRPr lang="en-US" sz="12800" b="1" dirty="0">
              <a:latin typeface="Bahnschrift SemiCondensed" panose="020B0502040204020203" pitchFamily="34" charset="0"/>
            </a:endParaRPr>
          </a:p>
          <a:p>
            <a:pPr lvl="2"/>
            <a:r>
              <a:rPr lang="en-US" sz="12800" b="1" dirty="0">
                <a:latin typeface="Bahnschrift Condensed" panose="020B0502040204020203" pitchFamily="34" charset="0"/>
              </a:rPr>
              <a:t> Present</a:t>
            </a:r>
            <a:r>
              <a:rPr lang="fr-FR" sz="12800" b="1" dirty="0">
                <a:latin typeface="Bahnschrift Condensed" panose="020B0502040204020203" pitchFamily="34" charset="0"/>
              </a:rPr>
              <a:t>é</a:t>
            </a:r>
            <a:r>
              <a:rPr lang="en-US" sz="12800" b="1" dirty="0">
                <a:latin typeface="Bahnschrift Condensed" panose="020B0502040204020203" pitchFamily="34" charset="0"/>
              </a:rPr>
              <a:t> par : </a:t>
            </a:r>
            <a:r>
              <a:rPr lang="en-US" sz="12800" b="1" dirty="0" err="1">
                <a:latin typeface="Bahnschrift Condensed" panose="020B0502040204020203" pitchFamily="34" charset="0"/>
              </a:rPr>
              <a:t>Ndeye</a:t>
            </a:r>
            <a:r>
              <a:rPr lang="en-US" sz="12800" b="1" dirty="0">
                <a:latin typeface="Bahnschrift Condensed" panose="020B0502040204020203" pitchFamily="34" charset="0"/>
              </a:rPr>
              <a:t> Sylla Tague</a:t>
            </a:r>
          </a:p>
          <a:p>
            <a:pPr lvl="2"/>
            <a:r>
              <a:rPr lang="fr-FR" sz="12800" b="1" dirty="0"/>
              <a:t> classe</a:t>
            </a:r>
            <a:r>
              <a:rPr lang="fr-FR" sz="12800" dirty="0"/>
              <a:t> :</a:t>
            </a:r>
            <a:r>
              <a:rPr lang="en-US" sz="12800" b="1" dirty="0">
                <a:latin typeface="Bahnschrift Condensed" panose="020B0502040204020203" pitchFamily="34" charset="0"/>
              </a:rPr>
              <a:t>L1 DSBD </a:t>
            </a:r>
          </a:p>
          <a:p>
            <a:pPr lvl="2"/>
            <a:r>
              <a:rPr lang="en-US" sz="12800" b="1" dirty="0">
                <a:latin typeface="Bahnschrift Condensed" panose="020B0502040204020203" pitchFamily="34" charset="0"/>
              </a:rPr>
              <a:t> Date : 15/06/2026</a:t>
            </a:r>
            <a:endParaRPr lang="en-US" sz="128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2"/>
            <a:endParaRPr lang="en-US" sz="98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2"/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2"/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2"/>
            <a:endParaRPr lang="en-US" sz="640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2"/>
            <a:endParaRPr lang="en-US" sz="640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2"/>
            <a:endParaRPr lang="en-US" sz="640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914400" lvl="2" indent="0">
              <a:buNone/>
            </a:pPr>
            <a:r>
              <a:rPr lang="en-US" sz="6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👤  </a:t>
            </a:r>
            <a:r>
              <a:rPr lang="en-US" sz="64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Ndeye</a:t>
            </a:r>
            <a:r>
              <a:rPr lang="en-US" sz="6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Sylla Tague      	🎓  Groupe ISI — </a:t>
            </a:r>
            <a:r>
              <a:rPr lang="en-US" sz="64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</a:t>
            </a:r>
            <a:r>
              <a:rPr lang="en-US" sz="6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      	📅  2026</a:t>
            </a:r>
            <a:endParaRPr lang="en-US" sz="64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2341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CCD20D-072B-442F-67A8-94737FCC728A}"/>
              </a:ext>
            </a:extLst>
          </p:cNvPr>
          <p:cNvSpPr/>
          <p:nvPr/>
        </p:nvSpPr>
        <p:spPr>
          <a:xfrm>
            <a:off x="0" y="-9906"/>
            <a:ext cx="3147060" cy="185623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F4A8BA-3D4B-EAEC-1C3C-670A3BD2E66B}"/>
              </a:ext>
            </a:extLst>
          </p:cNvPr>
          <p:cNvSpPr/>
          <p:nvPr/>
        </p:nvSpPr>
        <p:spPr>
          <a:xfrm>
            <a:off x="182880" y="457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9021E92-FB5E-69DF-1E63-96483BEA5E63}"/>
              </a:ext>
            </a:extLst>
          </p:cNvPr>
          <p:cNvSpPr/>
          <p:nvPr/>
        </p:nvSpPr>
        <p:spPr>
          <a:xfrm>
            <a:off x="3200400" y="320040"/>
            <a:ext cx="5669280" cy="438912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FB82F5A-FF8F-230C-5371-715B597F7C94}"/>
              </a:ext>
            </a:extLst>
          </p:cNvPr>
          <p:cNvSpPr/>
          <p:nvPr/>
        </p:nvSpPr>
        <p:spPr>
          <a:xfrm>
            <a:off x="3291840" y="3200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Présentation du projet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9ED3F2E-8F6C-C988-223D-4FC99D4728F8}"/>
              </a:ext>
            </a:extLst>
          </p:cNvPr>
          <p:cNvSpPr/>
          <p:nvPr/>
        </p:nvSpPr>
        <p:spPr>
          <a:xfrm>
            <a:off x="3200400" y="832104"/>
            <a:ext cx="56692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AAAEC2D-ACB0-DCA6-DD01-AE35F399F0F8}"/>
              </a:ext>
            </a:extLst>
          </p:cNvPr>
          <p:cNvSpPr/>
          <p:nvPr/>
        </p:nvSpPr>
        <p:spPr>
          <a:xfrm>
            <a:off x="3291840" y="83210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Choix de design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6A9FAA9-FB07-E40D-47E3-CA49A1AA9E85}"/>
              </a:ext>
            </a:extLst>
          </p:cNvPr>
          <p:cNvSpPr/>
          <p:nvPr/>
        </p:nvSpPr>
        <p:spPr>
          <a:xfrm>
            <a:off x="3200400" y="1344168"/>
            <a:ext cx="5669280" cy="438912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E35659-465A-A755-843D-295C6B87290E}"/>
              </a:ext>
            </a:extLst>
          </p:cNvPr>
          <p:cNvSpPr/>
          <p:nvPr/>
        </p:nvSpPr>
        <p:spPr>
          <a:xfrm>
            <a:off x="3291840" y="134416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Architecture du site</a:t>
            </a:r>
            <a:endParaRPr lang="en-US"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2AABD07-4CF6-AF99-DA3E-C6FD65FCFB83}"/>
              </a:ext>
            </a:extLst>
          </p:cNvPr>
          <p:cNvSpPr/>
          <p:nvPr/>
        </p:nvSpPr>
        <p:spPr>
          <a:xfrm>
            <a:off x="108685" y="1939290"/>
            <a:ext cx="5669280" cy="4898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F6582A6-8972-10A4-CE27-6EC6C6DBD353}"/>
              </a:ext>
            </a:extLst>
          </p:cNvPr>
          <p:cNvSpPr/>
          <p:nvPr/>
        </p:nvSpPr>
        <p:spPr>
          <a:xfrm>
            <a:off x="346509" y="1914486"/>
            <a:ext cx="86791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Points techniques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3949E6D-8EAA-83BC-97D3-4E2EF9DA12D0}"/>
              </a:ext>
            </a:extLst>
          </p:cNvPr>
          <p:cNvSpPr/>
          <p:nvPr/>
        </p:nvSpPr>
        <p:spPr>
          <a:xfrm>
            <a:off x="123123" y="2511714"/>
            <a:ext cx="5669280" cy="54109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91CDDF3-F8B7-FE3E-9BD7-2461964F27B7}"/>
              </a:ext>
            </a:extLst>
          </p:cNvPr>
          <p:cNvSpPr/>
          <p:nvPr/>
        </p:nvSpPr>
        <p:spPr>
          <a:xfrm>
            <a:off x="346509" y="2416883"/>
            <a:ext cx="8679180" cy="59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GitHub &amp; Déploiement</a:t>
            </a:r>
            <a:endParaRPr lang="en-US" sz="1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4D8F428-38F8-0BBC-7B2B-8293F02AFB6B}"/>
              </a:ext>
            </a:extLst>
          </p:cNvPr>
          <p:cNvSpPr/>
          <p:nvPr/>
        </p:nvSpPr>
        <p:spPr>
          <a:xfrm>
            <a:off x="108685" y="3116953"/>
            <a:ext cx="5669280" cy="606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6C8FD10-95B8-CE59-4D28-80BDC73B5F38}"/>
              </a:ext>
            </a:extLst>
          </p:cNvPr>
          <p:cNvSpPr/>
          <p:nvPr/>
        </p:nvSpPr>
        <p:spPr>
          <a:xfrm>
            <a:off x="346509" y="3262044"/>
            <a:ext cx="8679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Difficultés &amp; Solutions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817D948-C4F5-61FC-C672-A35023FE5BCF}"/>
              </a:ext>
            </a:extLst>
          </p:cNvPr>
          <p:cNvSpPr/>
          <p:nvPr/>
        </p:nvSpPr>
        <p:spPr>
          <a:xfrm>
            <a:off x="108685" y="3804757"/>
            <a:ext cx="5669280" cy="5526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51323A1-D882-E6AA-0A04-04347A0CC32E}"/>
              </a:ext>
            </a:extLst>
          </p:cNvPr>
          <p:cNvSpPr/>
          <p:nvPr/>
        </p:nvSpPr>
        <p:spPr>
          <a:xfrm>
            <a:off x="346509" y="3884033"/>
            <a:ext cx="86791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Ressources utilisées</a:t>
            </a:r>
            <a:endParaRPr lang="en-US" sz="16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F20CB08-4CF8-6058-EF9D-BDCB50EDAD43}"/>
              </a:ext>
            </a:extLst>
          </p:cNvPr>
          <p:cNvSpPr/>
          <p:nvPr/>
        </p:nvSpPr>
        <p:spPr>
          <a:xfrm>
            <a:off x="123123" y="4433182"/>
            <a:ext cx="5669280" cy="54644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2675E5B-6A32-8536-79DF-FA2FB089B93D}"/>
              </a:ext>
            </a:extLst>
          </p:cNvPr>
          <p:cNvSpPr/>
          <p:nvPr/>
        </p:nvSpPr>
        <p:spPr>
          <a:xfrm>
            <a:off x="346509" y="4543520"/>
            <a:ext cx="86791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Démonstration live</a:t>
            </a:r>
            <a:endParaRPr lang="en-US" sz="1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E2EC9AF-646A-EEE3-D0B7-88A3F641C9B7}"/>
              </a:ext>
            </a:extLst>
          </p:cNvPr>
          <p:cNvSpPr/>
          <p:nvPr/>
        </p:nvSpPr>
        <p:spPr>
          <a:xfrm>
            <a:off x="123123" y="5057926"/>
            <a:ext cx="5669280" cy="619776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AA6D73E-849C-DEFA-4372-08C3B6DD6411}"/>
              </a:ext>
            </a:extLst>
          </p:cNvPr>
          <p:cNvSpPr/>
          <p:nvPr/>
        </p:nvSpPr>
        <p:spPr>
          <a:xfrm>
            <a:off x="462012" y="5234456"/>
            <a:ext cx="3224464" cy="44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Conclusion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1607213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AC8AF3DC-601E-673B-4EC1-942456AC2248}"/>
              </a:ext>
            </a:extLst>
          </p:cNvPr>
          <p:cNvSpPr/>
          <p:nvPr/>
        </p:nvSpPr>
        <p:spPr>
          <a:xfrm>
            <a:off x="563878" y="1463040"/>
            <a:ext cx="3391410" cy="4653278"/>
          </a:xfrm>
          <a:prstGeom prst="roundRect">
            <a:avLst>
              <a:gd name="adj" fmla="val 4570"/>
            </a:avLst>
          </a:prstGeom>
          <a:solidFill>
            <a:srgbClr val="EFF6FF"/>
          </a:solidFill>
          <a:ln w="6350">
            <a:noFill/>
            <a:prstDash val="solid"/>
          </a:ln>
          <a:effectLst>
            <a:outerShdw blurRad="107950" dist="12700" dir="5400000" algn="ctr">
              <a:srgbClr val="000000"/>
            </a:outerShdw>
            <a:softEdge rad="1270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endParaRPr lang="fr-FR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F4CB49E4-1E55-6E50-7E06-2C247C008354}"/>
              </a:ext>
            </a:extLst>
          </p:cNvPr>
          <p:cNvSpPr/>
          <p:nvPr/>
        </p:nvSpPr>
        <p:spPr>
          <a:xfrm>
            <a:off x="1798320" y="109220"/>
            <a:ext cx="7345680" cy="8966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pPr lvl="2"/>
            <a:endParaRPr lang="en-US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lvl="2"/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</a:t>
            </a:r>
            <a:r>
              <a:rPr lang="en-US" sz="3200" b="1" dirty="0" err="1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</a:t>
            </a: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du </a:t>
            </a:r>
            <a:r>
              <a:rPr lang="en-US" sz="3200" b="1" dirty="0" err="1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</a:t>
            </a:r>
            <a:endParaRPr lang="fr-FR" sz="32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65A8912-1DC0-E312-625A-20C5235082EB}"/>
              </a:ext>
            </a:extLst>
          </p:cNvPr>
          <p:cNvSpPr/>
          <p:nvPr/>
        </p:nvSpPr>
        <p:spPr>
          <a:xfrm>
            <a:off x="776222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🌍  Contexte</a:t>
            </a:r>
            <a:endParaRPr lang="en-US" sz="14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B0D258D7-0A2E-AE95-E530-1438926E43BD}"/>
              </a:ext>
            </a:extLst>
          </p:cNvPr>
          <p:cNvSpPr/>
          <p:nvPr/>
        </p:nvSpPr>
        <p:spPr>
          <a:xfrm>
            <a:off x="796357" y="2265219"/>
            <a:ext cx="3103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600" dirty="0">
                <a:solidFill>
                  <a:schemeClr val="bg1"/>
                </a:solidFill>
              </a:rPr>
              <a:t>Le marché du freelance tech en Afrique est en pleine croissance. Il existe un besoin fort pour une plateforme fiable, adaptée aux réalités locales des créateurs et des développeurs.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48EBA23-2D08-9B24-448B-D6D2FD918F28}"/>
              </a:ext>
            </a:extLst>
          </p:cNvPr>
          <p:cNvSpPr/>
          <p:nvPr/>
        </p:nvSpPr>
        <p:spPr>
          <a:xfrm>
            <a:off x="4121912" y="1463039"/>
            <a:ext cx="3391410" cy="4653279"/>
          </a:xfrm>
          <a:prstGeom prst="roundRect">
            <a:avLst>
              <a:gd name="adj" fmla="val 4839"/>
            </a:avLst>
          </a:prstGeom>
          <a:solidFill>
            <a:srgbClr val="F0FDF4"/>
          </a:solidFill>
          <a:ln w="6350">
            <a:noFill/>
            <a:prstDash val="solid"/>
          </a:ln>
          <a:effectLst>
            <a:outerShdw blurRad="107950" dist="12700" dir="5400000" algn="ctr">
              <a:srgbClr val="000000"/>
            </a:outerShdw>
            <a:softEdge rad="1270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dirty="0"/>
              <a:t>z</a:t>
            </a:r>
            <a:endParaRPr lang="fr-FR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E101C34-D387-F25C-CCB8-D96377AEBE99}"/>
              </a:ext>
            </a:extLst>
          </p:cNvPr>
          <p:cNvSpPr/>
          <p:nvPr/>
        </p:nvSpPr>
        <p:spPr>
          <a:xfrm>
            <a:off x="4372863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Objectif</a:t>
            </a:r>
            <a:endParaRPr lang="en-US" sz="14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9694821-FFE9-8BB5-6356-E2C31969A4E8}"/>
              </a:ext>
            </a:extLst>
          </p:cNvPr>
          <p:cNvSpPr/>
          <p:nvPr/>
        </p:nvSpPr>
        <p:spPr>
          <a:xfrm>
            <a:off x="4530345" y="2265219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600" dirty="0">
                <a:solidFill>
                  <a:schemeClr val="bg1"/>
                </a:solidFill>
              </a:rPr>
              <a:t>Développer </a:t>
            </a:r>
            <a:r>
              <a:rPr lang="fr-FR" sz="1600" dirty="0" err="1">
                <a:solidFill>
                  <a:schemeClr val="bg1"/>
                </a:solidFill>
              </a:rPr>
              <a:t>AfriTalent</a:t>
            </a:r>
            <a:r>
              <a:rPr lang="fr-FR" sz="1600" dirty="0">
                <a:solidFill>
                  <a:schemeClr val="bg1"/>
                </a:solidFill>
              </a:rPr>
              <a:t> : un site vitrine complet, ergonomique (design </a:t>
            </a:r>
            <a:r>
              <a:rPr lang="fr-FR" sz="1600" i="1" dirty="0">
                <a:solidFill>
                  <a:schemeClr val="bg1"/>
                </a:solidFill>
              </a:rPr>
              <a:t>Bento </a:t>
            </a:r>
            <a:r>
              <a:rPr lang="fr-FR" sz="1600" i="1" dirty="0" err="1">
                <a:solidFill>
                  <a:schemeClr val="bg1"/>
                </a:solidFill>
              </a:rPr>
              <a:t>Grid</a:t>
            </a:r>
            <a:r>
              <a:rPr lang="fr-FR" sz="1600" dirty="0">
                <a:solidFill>
                  <a:schemeClr val="bg1"/>
                </a:solidFill>
              </a:rPr>
              <a:t>) et interactif (animations JavaScript) pour mettre en valeur les compétences et services des freelances.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818A593-2A29-BD96-5C98-57BCF47F92B2}"/>
              </a:ext>
            </a:extLst>
          </p:cNvPr>
          <p:cNvSpPr/>
          <p:nvPr/>
        </p:nvSpPr>
        <p:spPr>
          <a:xfrm>
            <a:off x="7665722" y="1463040"/>
            <a:ext cx="3469638" cy="4653279"/>
          </a:xfrm>
          <a:prstGeom prst="roundRect">
            <a:avLst>
              <a:gd name="adj" fmla="val 4839"/>
            </a:avLst>
          </a:prstGeom>
          <a:solidFill>
            <a:srgbClr val="FFF7ED"/>
          </a:solidFill>
          <a:ln w="6350">
            <a:noFill/>
            <a:prstDash val="solid"/>
          </a:ln>
          <a:effectLst>
            <a:outerShdw blurRad="107950" dist="12700" dir="5400000" algn="ctr">
              <a:srgbClr val="000000"/>
            </a:outerShdw>
            <a:softEdge rad="1270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87ACD6A-6FAF-1286-83DE-8C240CF42032}"/>
              </a:ext>
            </a:extLst>
          </p:cNvPr>
          <p:cNvSpPr/>
          <p:nvPr/>
        </p:nvSpPr>
        <p:spPr>
          <a:xfrm>
            <a:off x="8167624" y="15570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👥  Public cible</a:t>
            </a:r>
            <a:endParaRPr lang="en-US" sz="14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0B0D1FBF-1367-5596-FB5E-D44BB96B7FD5}"/>
              </a:ext>
            </a:extLst>
          </p:cNvPr>
          <p:cNvSpPr/>
          <p:nvPr/>
        </p:nvSpPr>
        <p:spPr>
          <a:xfrm>
            <a:off x="7863840" y="2065020"/>
            <a:ext cx="314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Freelances :</a:t>
            </a:r>
            <a:r>
              <a:rPr lang="fr-FR" dirty="0">
                <a:solidFill>
                  <a:schemeClr val="bg1"/>
                </a:solidFill>
              </a:rPr>
              <a:t> Développeurs, designers et data </a:t>
            </a:r>
            <a:r>
              <a:rPr lang="fr-FR" dirty="0" err="1">
                <a:solidFill>
                  <a:schemeClr val="bg1"/>
                </a:solidFill>
              </a:rPr>
              <a:t>scientists</a:t>
            </a:r>
            <a:r>
              <a:rPr lang="fr-FR" dirty="0">
                <a:solidFill>
                  <a:schemeClr val="bg1"/>
                </a:solidFill>
              </a:rPr>
              <a:t> en quête de missions.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Entreprises :</a:t>
            </a:r>
            <a:r>
              <a:rPr lang="fr-FR" dirty="0">
                <a:solidFill>
                  <a:schemeClr val="bg1"/>
                </a:solidFill>
              </a:rPr>
              <a:t> Startups et PME africaines à la recherche de talents qualifiés.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6356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2044F32-6168-88B2-9911-88B3768EF481}"/>
              </a:ext>
            </a:extLst>
          </p:cNvPr>
          <p:cNvSpPr/>
          <p:nvPr/>
        </p:nvSpPr>
        <p:spPr>
          <a:xfrm>
            <a:off x="1427988" y="216248"/>
            <a:ext cx="7776972" cy="872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04 — Palette de couleurs &amp; Typographie</a:t>
            </a:r>
            <a:endParaRPr lang="en-US" sz="3200" dirty="0"/>
          </a:p>
        </p:txBody>
      </p:sp>
      <p:sp>
        <p:nvSpPr>
          <p:cNvPr id="3" name="Text 21">
            <a:extLst>
              <a:ext uri="{FF2B5EF4-FFF2-40B4-BE49-F238E27FC236}">
                <a16:creationId xmlns:a16="http://schemas.microsoft.com/office/drawing/2014/main" id="{7A6692D2-D824-DC00-0B23-9ED3A039685C}"/>
              </a:ext>
            </a:extLst>
          </p:cNvPr>
          <p:cNvSpPr/>
          <p:nvPr/>
        </p:nvSpPr>
        <p:spPr>
          <a:xfrm>
            <a:off x="7150608" y="3200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4" name="Text 22">
            <a:extLst>
              <a:ext uri="{FF2B5EF4-FFF2-40B4-BE49-F238E27FC236}">
                <a16:creationId xmlns:a16="http://schemas.microsoft.com/office/drawing/2014/main" id="{71ADF9DF-5734-6B1C-6C5E-7DA907AF9931}"/>
              </a:ext>
            </a:extLst>
          </p:cNvPr>
          <p:cNvSpPr/>
          <p:nvPr/>
        </p:nvSpPr>
        <p:spPr>
          <a:xfrm>
            <a:off x="1534160" y="4322671"/>
            <a:ext cx="5219700" cy="8723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lvl="4" algn="ctr"/>
            <a:r>
              <a:rPr lang="fr-FR" sz="28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Typographie</a:t>
            </a:r>
            <a:endParaRPr lang="fr-FR" sz="28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hape 23">
            <a:extLst>
              <a:ext uri="{FF2B5EF4-FFF2-40B4-BE49-F238E27FC236}">
                <a16:creationId xmlns:a16="http://schemas.microsoft.com/office/drawing/2014/main" id="{8E18EC8D-8766-8BF9-40C2-012FE9D4784B}"/>
              </a:ext>
            </a:extLst>
          </p:cNvPr>
          <p:cNvSpPr/>
          <p:nvPr/>
        </p:nvSpPr>
        <p:spPr>
          <a:xfrm>
            <a:off x="594360" y="5604045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9F9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24">
            <a:extLst>
              <a:ext uri="{FF2B5EF4-FFF2-40B4-BE49-F238E27FC236}">
                <a16:creationId xmlns:a16="http://schemas.microsoft.com/office/drawing/2014/main" id="{2F487DC9-FFF6-AB1B-DFD4-1D246A9E3088}"/>
              </a:ext>
            </a:extLst>
          </p:cNvPr>
          <p:cNvSpPr/>
          <p:nvPr/>
        </p:nvSpPr>
        <p:spPr>
          <a:xfrm>
            <a:off x="1815465" y="5632795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</a:t>
            </a: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600" b="1" dirty="0" err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Outfite</a:t>
            </a:r>
            <a:endParaRPr lang="en-US" sz="160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AD4EF67B-451D-255B-EEA9-DA4D702C191E}"/>
              </a:ext>
            </a:extLst>
          </p:cNvPr>
          <p:cNvSpPr/>
          <p:nvPr/>
        </p:nvSpPr>
        <p:spPr>
          <a:xfrm>
            <a:off x="1427988" y="5977613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Expressive, forte identité visuelle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8A0C37D1-E817-F5D6-1A54-94C916362E77}"/>
              </a:ext>
            </a:extLst>
          </p:cNvPr>
          <p:cNvSpPr/>
          <p:nvPr/>
        </p:nvSpPr>
        <p:spPr>
          <a:xfrm>
            <a:off x="5655945" y="5595202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9F9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E764F5D2-4229-6E4B-013D-290CD1C08D9B}"/>
              </a:ext>
            </a:extLst>
          </p:cNvPr>
          <p:cNvSpPr/>
          <p:nvPr/>
        </p:nvSpPr>
        <p:spPr>
          <a:xfrm>
            <a:off x="6858000" y="565017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— Inter</a:t>
            </a:r>
            <a:endParaRPr lang="en-US" sz="1600" dirty="0"/>
          </a:p>
        </p:txBody>
      </p:sp>
      <p:sp>
        <p:nvSpPr>
          <p:cNvPr id="10" name="Text 28">
            <a:extLst>
              <a:ext uri="{FF2B5EF4-FFF2-40B4-BE49-F238E27FC236}">
                <a16:creationId xmlns:a16="http://schemas.microsoft.com/office/drawing/2014/main" id="{CE0F7B07-6394-1A0B-89D1-961ADED19BD1}"/>
              </a:ext>
            </a:extLst>
          </p:cNvPr>
          <p:cNvSpPr/>
          <p:nvPr/>
        </p:nvSpPr>
        <p:spPr>
          <a:xfrm>
            <a:off x="6481762" y="6007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Lisible, moderne, parfaite UI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774167C-785F-D450-B8ED-197A4C969584}"/>
              </a:ext>
            </a:extLst>
          </p:cNvPr>
          <p:cNvSpPr txBox="1"/>
          <p:nvPr/>
        </p:nvSpPr>
        <p:spPr>
          <a:xfrm>
            <a:off x="3348228" y="1743423"/>
            <a:ext cx="45796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Palette de couleurs</a:t>
            </a: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		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3D349-96EE-D429-5745-372795ABCE1F}"/>
              </a:ext>
            </a:extLst>
          </p:cNvPr>
          <p:cNvSpPr/>
          <p:nvPr/>
        </p:nvSpPr>
        <p:spPr>
          <a:xfrm>
            <a:off x="169291" y="3019644"/>
            <a:ext cx="1714500" cy="8610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Couleur principale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fr-FR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#443072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D598AB-99C4-B4DD-7341-62BE37D8F5BF}"/>
              </a:ext>
            </a:extLst>
          </p:cNvPr>
          <p:cNvSpPr/>
          <p:nvPr/>
        </p:nvSpPr>
        <p:spPr>
          <a:xfrm>
            <a:off x="2651760" y="3019644"/>
            <a:ext cx="1828800" cy="86106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Couleur secondaire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fr-FR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#943de5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852FEA-8560-DD85-4762-24D20AF19267}"/>
              </a:ext>
            </a:extLst>
          </p:cNvPr>
          <p:cNvSpPr/>
          <p:nvPr/>
        </p:nvSpPr>
        <p:spPr>
          <a:xfrm>
            <a:off x="5168900" y="2999268"/>
            <a:ext cx="1584960" cy="9144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Couleur accent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fr-FR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#ddd4ed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80081C-75C0-AC25-A4B2-820F40816434}"/>
              </a:ext>
            </a:extLst>
          </p:cNvPr>
          <p:cNvSpPr/>
          <p:nvPr/>
        </p:nvSpPr>
        <p:spPr>
          <a:xfrm>
            <a:off x="7361555" y="3006496"/>
            <a:ext cx="1651635" cy="9144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Fond clair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#eceaf1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749160-A6C7-9824-E3A5-2AC873FB5ACF}"/>
              </a:ext>
            </a:extLst>
          </p:cNvPr>
          <p:cNvSpPr/>
          <p:nvPr/>
        </p:nvSpPr>
        <p:spPr>
          <a:xfrm>
            <a:off x="9609328" y="2984052"/>
            <a:ext cx="1651635" cy="921841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Texte foncé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fr-FR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#1a1a1a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9CB5B25-099C-F99D-B49E-71DC1D39AAF2}"/>
              </a:ext>
            </a:extLst>
          </p:cNvPr>
          <p:cNvSpPr txBox="1"/>
          <p:nvPr/>
        </p:nvSpPr>
        <p:spPr>
          <a:xfrm>
            <a:off x="2651760" y="2022408"/>
            <a:ext cx="4579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704384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27B75D1-B5B4-90CE-0489-CD6E5E728F96}"/>
              </a:ext>
            </a:extLst>
          </p:cNvPr>
          <p:cNvSpPr/>
          <p:nvPr/>
        </p:nvSpPr>
        <p:spPr>
          <a:xfrm>
            <a:off x="2407920" y="163576"/>
            <a:ext cx="5994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	05 — Inspirations &amp; Choix design</a:t>
            </a:r>
            <a:endParaRPr lang="en-US" sz="24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117C88E5-5B4F-E7BF-E4A1-912079906497}"/>
              </a:ext>
            </a:extLst>
          </p:cNvPr>
          <p:cNvSpPr/>
          <p:nvPr/>
        </p:nvSpPr>
        <p:spPr>
          <a:xfrm>
            <a:off x="457200" y="1344168"/>
            <a:ext cx="4267200" cy="225958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innerShdw blurRad="114300">
              <a:prstClr val="black"/>
            </a:innerShdw>
          </a:effectLst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CA8637F1-DF20-A692-2745-E3A3B0019005}"/>
              </a:ext>
            </a:extLst>
          </p:cNvPr>
          <p:cNvSpPr/>
          <p:nvPr/>
        </p:nvSpPr>
        <p:spPr>
          <a:xfrm>
            <a:off x="594360" y="14533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🎨  Bento Grid</a:t>
            </a:r>
            <a:endParaRPr lang="en-US" sz="13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664F6F0-493A-5870-F9F5-0D1F366F08A8}"/>
              </a:ext>
            </a:extLst>
          </p:cNvPr>
          <p:cNvSpPr/>
          <p:nvPr/>
        </p:nvSpPr>
        <p:spPr>
          <a:xfrm>
            <a:off x="660400" y="1807464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 err="1">
                <a:solidFill>
                  <a:schemeClr val="bg1"/>
                </a:solidFill>
              </a:rPr>
              <a:t>Layout</a:t>
            </a:r>
            <a:r>
              <a:rPr lang="fr-FR" sz="1400" dirty="0">
                <a:solidFill>
                  <a:schemeClr val="bg1"/>
                </a:solidFill>
              </a:rPr>
              <a:t> asymétrique inspiré du concept « Bento Box ». Alternance dynamique de cartes modulaires pour un rythme visuel marqué et une navigation moderne en 2026</a:t>
            </a:r>
            <a:r>
              <a:rPr lang="fr-FR" sz="1400" dirty="0"/>
              <a:t>.</a:t>
            </a:r>
            <a:endParaRPr lang="en-US" sz="14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403AC416-A0DE-6F3B-9981-2A7EE165692B}"/>
              </a:ext>
            </a:extLst>
          </p:cNvPr>
          <p:cNvSpPr/>
          <p:nvPr/>
        </p:nvSpPr>
        <p:spPr>
          <a:xfrm>
            <a:off x="5115560" y="1344168"/>
            <a:ext cx="4536440" cy="220472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8813D87-B02D-7050-7EC1-3D7A8335504C}"/>
              </a:ext>
            </a:extLst>
          </p:cNvPr>
          <p:cNvSpPr/>
          <p:nvPr/>
        </p:nvSpPr>
        <p:spPr>
          <a:xfrm>
            <a:off x="5267960" y="14437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🌙  Dark Mode</a:t>
            </a:r>
            <a:endParaRPr lang="en-US" sz="13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6601E2A2-017F-BB0F-4EE1-321D352E58E2}"/>
              </a:ext>
            </a:extLst>
          </p:cNvPr>
          <p:cNvSpPr/>
          <p:nvPr/>
        </p:nvSpPr>
        <p:spPr>
          <a:xfrm>
            <a:off x="5267960" y="1782064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bg1"/>
                </a:solidFill>
              </a:rPr>
              <a:t>Architecture native utilisant des variables CSS. Basculement fluide de thème avec mémorisation de la préférence utilisateur via </a:t>
            </a:r>
            <a:r>
              <a:rPr lang="fr-FR" sz="1400" dirty="0" err="1">
                <a:solidFill>
                  <a:schemeClr val="bg1"/>
                </a:solidFill>
              </a:rPr>
              <a:t>localStorage</a:t>
            </a:r>
            <a:r>
              <a:rPr lang="fr-FR" sz="1400" dirty="0">
                <a:solidFill>
                  <a:schemeClr val="bg1"/>
                </a:solidFill>
              </a:rPr>
              <a:t> pour une cohérence sur tout le site.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5EA5063B-0134-3831-DB99-F1C96016B296}"/>
              </a:ext>
            </a:extLst>
          </p:cNvPr>
          <p:cNvSpPr/>
          <p:nvPr/>
        </p:nvSpPr>
        <p:spPr>
          <a:xfrm>
            <a:off x="457200" y="3793744"/>
            <a:ext cx="4267200" cy="225958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innerShdw blurRad="114300">
              <a:prstClr val="black"/>
            </a:innerShdw>
          </a:effectLst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8D6868-5CAF-D8E5-CA0D-1675640608AC}"/>
              </a:ext>
            </a:extLst>
          </p:cNvPr>
          <p:cNvSpPr/>
          <p:nvPr/>
        </p:nvSpPr>
        <p:spPr>
          <a:xfrm>
            <a:off x="812800" y="4023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✨  Animations JS</a:t>
            </a:r>
            <a:endParaRPr lang="en-US" sz="13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36048D60-9FB7-C5E5-0E84-1ED70AD6FA49}"/>
              </a:ext>
            </a:extLst>
          </p:cNvPr>
          <p:cNvSpPr/>
          <p:nvPr/>
        </p:nvSpPr>
        <p:spPr>
          <a:xfrm>
            <a:off x="716280" y="4374896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bg1"/>
                </a:solidFill>
              </a:rPr>
              <a:t>Navigation réactive et effets visuels (compteurs, </a:t>
            </a:r>
            <a:r>
              <a:rPr lang="fr-FR" sz="1400" i="1" dirty="0">
                <a:solidFill>
                  <a:schemeClr val="bg1"/>
                </a:solidFill>
              </a:rPr>
              <a:t>fade-in</a:t>
            </a:r>
            <a:r>
              <a:rPr lang="fr-FR" sz="1400" dirty="0">
                <a:solidFill>
                  <a:schemeClr val="bg1"/>
                </a:solidFill>
              </a:rPr>
              <a:t> au défilement) propulsés par l’API </a:t>
            </a:r>
            <a:r>
              <a:rPr lang="en-US" sz="1400" dirty="0" err="1">
                <a:solidFill>
                  <a:schemeClr val="bg1"/>
                </a:solidFill>
              </a:rPr>
              <a:t>IntersectionObserver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/>
              <a:t>P</a:t>
            </a:r>
            <a:r>
              <a:rPr lang="fr-FR" sz="1400" dirty="0">
                <a:solidFill>
                  <a:schemeClr val="bg1"/>
                </a:solidFill>
              </a:rPr>
              <a:t>erformance optimisée sans </a:t>
            </a:r>
            <a:r>
              <a:rPr lang="fr-FR" sz="1400" dirty="0" err="1">
                <a:solidFill>
                  <a:schemeClr val="bg1"/>
                </a:solidFill>
              </a:rPr>
              <a:t>framework</a:t>
            </a:r>
            <a:r>
              <a:rPr lang="fr-FR" sz="1400" dirty="0">
                <a:solidFill>
                  <a:schemeClr val="bg1"/>
                </a:solidFill>
              </a:rPr>
              <a:t> JavaScript.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9F2736FF-4DBD-E654-4E2A-1C8C0F936F7D}"/>
              </a:ext>
            </a:extLst>
          </p:cNvPr>
          <p:cNvSpPr/>
          <p:nvPr/>
        </p:nvSpPr>
        <p:spPr>
          <a:xfrm>
            <a:off x="5115560" y="3793744"/>
            <a:ext cx="4536440" cy="225958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F13CE8E-B5D5-05CA-A640-D864477A0A70}"/>
              </a:ext>
            </a:extLst>
          </p:cNvPr>
          <p:cNvSpPr/>
          <p:nvPr/>
        </p:nvSpPr>
        <p:spPr>
          <a:xfrm>
            <a:off x="5267960" y="4023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🌍  Identité africaine</a:t>
            </a:r>
            <a:endParaRPr lang="en-US" sz="13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727C7A9-5C9A-649A-1A42-C4836BB46374}"/>
              </a:ext>
            </a:extLst>
          </p:cNvPr>
          <p:cNvSpPr/>
          <p:nvPr/>
        </p:nvSpPr>
        <p:spPr>
          <a:xfrm>
            <a:off x="5267960" y="4374896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bg1"/>
                </a:solidFill>
              </a:rPr>
              <a:t>Palette vibrante associant le violet, l'indigo et le mauve clair pour une esthétique numérique audacieuse. Typographie expressive et design épuré pour une identité forte.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280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ZoneTexte 22">
            <a:extLst>
              <a:ext uri="{FF2B5EF4-FFF2-40B4-BE49-F238E27FC236}">
                <a16:creationId xmlns:a16="http://schemas.microsoft.com/office/drawing/2014/main" id="{B83EAD33-A968-87F1-05C7-91D5F5780BD6}"/>
              </a:ext>
            </a:extLst>
          </p:cNvPr>
          <p:cNvSpPr txBox="1"/>
          <p:nvPr/>
        </p:nvSpPr>
        <p:spPr>
          <a:xfrm>
            <a:off x="2377440" y="0"/>
            <a:ext cx="63385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— Architecture du site</a:t>
            </a:r>
            <a:endParaRPr lang="fr-FR" sz="28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6DEDAB15-5BB3-27CD-E6CF-91BBD292845E}"/>
              </a:ext>
            </a:extLst>
          </p:cNvPr>
          <p:cNvSpPr/>
          <p:nvPr/>
        </p:nvSpPr>
        <p:spPr>
          <a:xfrm>
            <a:off x="36576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Arborescence du projet</a:t>
            </a:r>
            <a:endParaRPr lang="en-US" sz="16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D6B2372B-BC08-4B18-E8B8-22BB8DB97B2B}"/>
              </a:ext>
            </a:extLst>
          </p:cNvPr>
          <p:cNvSpPr/>
          <p:nvPr/>
        </p:nvSpPr>
        <p:spPr>
          <a:xfrm>
            <a:off x="274320" y="150876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06484AD1-7EDE-0445-2E32-F2831F806567}"/>
              </a:ext>
            </a:extLst>
          </p:cNvPr>
          <p:cNvSpPr/>
          <p:nvPr/>
        </p:nvSpPr>
        <p:spPr>
          <a:xfrm>
            <a:off x="274320" y="1512916"/>
            <a:ext cx="4187190" cy="3379124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NOM-Prenom-AfriTalent/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freelances.html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tarifs.html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about.html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contact.html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style.css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main.js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images/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Presentation.pptx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.gitignore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0CDFF22E-B385-5681-A274-C86B9A5EFA8A}"/>
              </a:ext>
            </a:extLst>
          </p:cNvPr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pages HTML</a:t>
            </a:r>
            <a:endParaRPr lang="en-US" sz="16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02367014-CB0E-F462-EB9B-394AB765F831}"/>
              </a:ext>
            </a:extLst>
          </p:cNvPr>
          <p:cNvSpPr/>
          <p:nvPr/>
        </p:nvSpPr>
        <p:spPr>
          <a:xfrm>
            <a:off x="4892040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7D0BFF95-51DB-7A44-4B19-F077BB041739}"/>
              </a:ext>
            </a:extLst>
          </p:cNvPr>
          <p:cNvSpPr/>
          <p:nvPr/>
        </p:nvSpPr>
        <p:spPr>
          <a:xfrm>
            <a:off x="4892040" y="1810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— Hero, Stats, Bento Grid, Témoignages</a:t>
            </a:r>
            <a:endParaRPr lang="en-US" sz="10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80C926FB-7ACC-FDAF-CB7C-E466D868B531}"/>
              </a:ext>
            </a:extLst>
          </p:cNvPr>
          <p:cNvSpPr/>
          <p:nvPr/>
        </p:nvSpPr>
        <p:spPr>
          <a:xfrm>
            <a:off x="489204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freelances.html</a:t>
            </a:r>
            <a:endParaRPr lang="en-US" sz="95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613D2E2C-E103-B1A4-C6E0-4264B729D10D}"/>
              </a:ext>
            </a:extLst>
          </p:cNvPr>
          <p:cNvSpPr/>
          <p:nvPr/>
        </p:nvSpPr>
        <p:spPr>
          <a:xfrm>
            <a:off x="4892040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— 9+ profils, filtrage JS dynamique</a:t>
            </a:r>
            <a:endParaRPr lang="en-US" sz="10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D5D827DF-64A2-D27E-E20D-BE852CABD35B}"/>
              </a:ext>
            </a:extLst>
          </p:cNvPr>
          <p:cNvSpPr/>
          <p:nvPr/>
        </p:nvSpPr>
        <p:spPr>
          <a:xfrm>
            <a:off x="4892040" y="2852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tarifs.html</a:t>
            </a:r>
            <a:endParaRPr lang="en-US" sz="95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01AFCA18-498E-878A-F45C-AC293C70B0A2}"/>
              </a:ext>
            </a:extLst>
          </p:cNvPr>
          <p:cNvSpPr/>
          <p:nvPr/>
        </p:nvSpPr>
        <p:spPr>
          <a:xfrm>
            <a:off x="4892040" y="3127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tarifaires — 3 plans + FAQ Accordion</a:t>
            </a:r>
            <a:endParaRPr lang="en-US" sz="10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9A483D9F-6EC9-BEFE-9B27-AEB2D33EA06D}"/>
              </a:ext>
            </a:extLst>
          </p:cNvPr>
          <p:cNvSpPr/>
          <p:nvPr/>
        </p:nvSpPr>
        <p:spPr>
          <a:xfrm>
            <a:off x="4892040" y="3511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95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272CA345-2CB3-842E-87FC-67525185CC6E}"/>
              </a:ext>
            </a:extLst>
          </p:cNvPr>
          <p:cNvSpPr/>
          <p:nvPr/>
        </p:nvSpPr>
        <p:spPr>
          <a:xfrm>
            <a:off x="4892040" y="3785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 — Équipe, Valeurs, Chiffres clés</a:t>
            </a:r>
            <a:endParaRPr lang="en-US" sz="10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7A9DD34B-71C4-3AE0-38A5-4BCB77853591}"/>
              </a:ext>
            </a:extLst>
          </p:cNvPr>
          <p:cNvSpPr/>
          <p:nvPr/>
        </p:nvSpPr>
        <p:spPr>
          <a:xfrm>
            <a:off x="4892040" y="4169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95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73440BC9-2754-0785-A112-1A0BAC37AD39}"/>
              </a:ext>
            </a:extLst>
          </p:cNvPr>
          <p:cNvSpPr/>
          <p:nvPr/>
        </p:nvSpPr>
        <p:spPr>
          <a:xfrm>
            <a:off x="4892040" y="4443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—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 + Google Maps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76948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467BAA-C3B0-5490-B70C-F5E783DAF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84" y="1145406"/>
            <a:ext cx="2011681" cy="492813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2B8DE8B-5DEF-96D8-A27C-0CB2FA1CF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21" y="1145406"/>
            <a:ext cx="2011681" cy="492813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D838573-928A-E6FD-BE87-764D52D60B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458" y="1145406"/>
            <a:ext cx="2011681" cy="492813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DFF2040-476C-3F8C-C3AC-238A17DCA6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595" y="1145407"/>
            <a:ext cx="2011682" cy="492813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6E41D42-0F2D-E936-E454-F01B6F1908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734" y="1145406"/>
            <a:ext cx="2166840" cy="492813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BA7AEB37-5A48-78C8-A9BE-4D11100F105D}"/>
              </a:ext>
            </a:extLst>
          </p:cNvPr>
          <p:cNvSpPr txBox="1"/>
          <p:nvPr/>
        </p:nvSpPr>
        <p:spPr>
          <a:xfrm>
            <a:off x="2316865" y="415126"/>
            <a:ext cx="7428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3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07 —Capture </a:t>
            </a:r>
            <a:r>
              <a:rPr lang="en-US" sz="3600" b="1" dirty="0" err="1">
                <a:latin typeface="Cambria" pitchFamily="34" charset="0"/>
                <a:ea typeface="Cambria" pitchFamily="34" charset="-122"/>
                <a:cs typeface="Cambria" pitchFamily="34" charset="-120"/>
              </a:rPr>
              <a:t>d’ecran</a:t>
            </a:r>
            <a:r>
              <a:rPr lang="en-US" sz="3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du site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87566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2ADC789-CA02-004D-1C18-9F0AF050EA9E}"/>
              </a:ext>
            </a:extLst>
          </p:cNvPr>
          <p:cNvSpPr/>
          <p:nvPr/>
        </p:nvSpPr>
        <p:spPr>
          <a:xfrm>
            <a:off x="1960880" y="121920"/>
            <a:ext cx="57708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	</a:t>
            </a: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08 — JavaScript : fonctionnalités clés</a:t>
            </a:r>
            <a:endParaRPr lang="en-US" sz="24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A240CEC7-3359-8D19-17A1-AFAA083305D4}"/>
              </a:ext>
            </a:extLst>
          </p:cNvPr>
          <p:cNvSpPr/>
          <p:nvPr/>
        </p:nvSpPr>
        <p:spPr>
          <a:xfrm>
            <a:off x="274320" y="1143000"/>
            <a:ext cx="411480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8B308C0E-38FF-1A59-0C96-2CD7366F25A5}"/>
              </a:ext>
            </a:extLst>
          </p:cNvPr>
          <p:cNvSpPr/>
          <p:nvPr/>
        </p:nvSpPr>
        <p:spPr>
          <a:xfrm>
            <a:off x="384048" y="12527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BFA88194-3EF2-08A2-07AC-90FE3BCD150F}"/>
              </a:ext>
            </a:extLst>
          </p:cNvPr>
          <p:cNvSpPr/>
          <p:nvPr/>
        </p:nvSpPr>
        <p:spPr>
          <a:xfrm>
            <a:off x="82296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C61AAA3-F6E0-3257-B4A7-3BAC6EAD6143}"/>
              </a:ext>
            </a:extLst>
          </p:cNvPr>
          <p:cNvSpPr/>
          <p:nvPr/>
        </p:nvSpPr>
        <p:spPr>
          <a:xfrm>
            <a:off x="822960" y="1581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2"/>
                </a:solidFill>
              </a:rPr>
              <a:t>Sauvegarde des préférences utilisateur via </a:t>
            </a:r>
            <a:r>
              <a:rPr lang="fr-FR" sz="1400" dirty="0" err="1">
                <a:solidFill>
                  <a:schemeClr val="accent2"/>
                </a:solidFill>
              </a:rPr>
              <a:t>localStorage</a:t>
            </a:r>
            <a:r>
              <a:rPr lang="fr-FR" sz="1400" dirty="0">
                <a:solidFill>
                  <a:schemeClr val="accent2"/>
                </a:solidFill>
              </a:rPr>
              <a:t> pour une expérience cohérente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7999732C-7077-D324-1A95-7927C16D3909}"/>
              </a:ext>
            </a:extLst>
          </p:cNvPr>
          <p:cNvSpPr/>
          <p:nvPr/>
        </p:nvSpPr>
        <p:spPr>
          <a:xfrm>
            <a:off x="4754880" y="1143000"/>
            <a:ext cx="411480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B874310-E37D-A812-7814-C17D2894FB68}"/>
              </a:ext>
            </a:extLst>
          </p:cNvPr>
          <p:cNvSpPr/>
          <p:nvPr/>
        </p:nvSpPr>
        <p:spPr>
          <a:xfrm>
            <a:off x="4864608" y="12527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7B1F830-71BB-E16D-2097-7196972F590B}"/>
              </a:ext>
            </a:extLst>
          </p:cNvPr>
          <p:cNvSpPr/>
          <p:nvPr/>
        </p:nvSpPr>
        <p:spPr>
          <a:xfrm>
            <a:off x="530352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</a:t>
            </a:r>
            <a:endParaRPr lang="en-US" sz="1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33EF936-F206-1EB4-CAF9-45AE7009C52A}"/>
              </a:ext>
            </a:extLst>
          </p:cNvPr>
          <p:cNvSpPr/>
          <p:nvPr/>
        </p:nvSpPr>
        <p:spPr>
          <a:xfrm>
            <a:off x="5303520" y="1581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2"/>
                </a:solidFill>
              </a:rPr>
              <a:t>Animations fluides basées sur </a:t>
            </a:r>
            <a:r>
              <a:rPr lang="fr-FR" sz="1400" dirty="0" err="1">
                <a:solidFill>
                  <a:schemeClr val="accent2"/>
                </a:solidFill>
              </a:rPr>
              <a:t>IntersectionObserver</a:t>
            </a:r>
            <a:r>
              <a:rPr lang="fr-FR" sz="1400" dirty="0">
                <a:solidFill>
                  <a:schemeClr val="accent2"/>
                </a:solidFill>
              </a:rPr>
              <a:t> </a:t>
            </a:r>
            <a:r>
              <a:rPr lang="fr-FR" sz="1400" dirty="0" err="1">
                <a:solidFill>
                  <a:schemeClr val="accent2"/>
                </a:solidFill>
              </a:rPr>
              <a:t>requestAnimationFrame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4A243B2F-A5CE-A33E-FD41-83E73198AFE0}"/>
              </a:ext>
            </a:extLst>
          </p:cNvPr>
          <p:cNvSpPr/>
          <p:nvPr/>
        </p:nvSpPr>
        <p:spPr>
          <a:xfrm>
            <a:off x="274718" y="2121408"/>
            <a:ext cx="411480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D46AFB59-686E-3A75-0C4B-5E72B2B01597}"/>
              </a:ext>
            </a:extLst>
          </p:cNvPr>
          <p:cNvSpPr/>
          <p:nvPr/>
        </p:nvSpPr>
        <p:spPr>
          <a:xfrm>
            <a:off x="384048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7219848-D508-E034-8E21-D64505BC5B4D}"/>
              </a:ext>
            </a:extLst>
          </p:cNvPr>
          <p:cNvSpPr/>
          <p:nvPr/>
        </p:nvSpPr>
        <p:spPr>
          <a:xfrm>
            <a:off x="82296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</a:t>
            </a:r>
            <a:endParaRPr lang="en-US" sz="14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9F35D1D-98D3-43AB-052F-0EFD322F11E8}"/>
              </a:ext>
            </a:extLst>
          </p:cNvPr>
          <p:cNvSpPr/>
          <p:nvPr/>
        </p:nvSpPr>
        <p:spPr>
          <a:xfrm>
            <a:off x="822960" y="2542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 + classList.toggle('hidden')</a:t>
            </a:r>
            <a:endParaRPr lang="en-US" sz="12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8DF66E42-C6ED-F4E0-80BD-5557C6401404}"/>
              </a:ext>
            </a:extLst>
          </p:cNvPr>
          <p:cNvSpPr/>
          <p:nvPr/>
        </p:nvSpPr>
        <p:spPr>
          <a:xfrm>
            <a:off x="4754880" y="2103120"/>
            <a:ext cx="411480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1F944A16-CC47-C8C9-861E-EF246C57CA91}"/>
              </a:ext>
            </a:extLst>
          </p:cNvPr>
          <p:cNvSpPr/>
          <p:nvPr/>
        </p:nvSpPr>
        <p:spPr>
          <a:xfrm>
            <a:off x="4864608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C77B7A2-2304-72D9-8921-46816938EB08}"/>
              </a:ext>
            </a:extLst>
          </p:cNvPr>
          <p:cNvSpPr/>
          <p:nvPr/>
        </p:nvSpPr>
        <p:spPr>
          <a:xfrm>
            <a:off x="530352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formulaire</a:t>
            </a:r>
            <a:endParaRPr lang="en-US" sz="14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B6A698B-8F2E-9FAA-C631-E2E9A26E98A1}"/>
              </a:ext>
            </a:extLst>
          </p:cNvPr>
          <p:cNvSpPr/>
          <p:nvPr/>
        </p:nvSpPr>
        <p:spPr>
          <a:xfrm>
            <a:off x="5303520" y="2542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2"/>
                </a:solidFill>
              </a:rPr>
              <a:t>Contrôle de saisie par expressions régulières (Regex) avec retour utilisateur immédiat.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2792390-FD0C-B5B8-E3C7-763EFEA4BEEA}"/>
              </a:ext>
            </a:extLst>
          </p:cNvPr>
          <p:cNvSpPr/>
          <p:nvPr/>
        </p:nvSpPr>
        <p:spPr>
          <a:xfrm>
            <a:off x="274320" y="3072892"/>
            <a:ext cx="411480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36A44EEA-3CC8-2C75-FEB6-7E91D8D2E7AE}"/>
              </a:ext>
            </a:extLst>
          </p:cNvPr>
          <p:cNvSpPr/>
          <p:nvPr/>
        </p:nvSpPr>
        <p:spPr>
          <a:xfrm>
            <a:off x="384048" y="31729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868413FB-7BF4-72BE-2749-1CD86B652049}"/>
              </a:ext>
            </a:extLst>
          </p:cNvPr>
          <p:cNvSpPr/>
          <p:nvPr/>
        </p:nvSpPr>
        <p:spPr>
          <a:xfrm>
            <a:off x="82296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au scroll</a:t>
            </a:r>
            <a:endParaRPr lang="en-US" sz="14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1423FBFA-0994-F79B-8736-46A73900DDBC}"/>
              </a:ext>
            </a:extLst>
          </p:cNvPr>
          <p:cNvSpPr/>
          <p:nvPr/>
        </p:nvSpPr>
        <p:spPr>
          <a:xfrm>
            <a:off x="822960" y="3502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2"/>
                </a:solidFill>
              </a:rPr>
              <a:t>Adaptation du menu en fonction du comportement de défilement (</a:t>
            </a:r>
            <a:r>
              <a:rPr lang="fr-FR" sz="1400" i="1" dirty="0">
                <a:solidFill>
                  <a:schemeClr val="accent2"/>
                </a:solidFill>
              </a:rPr>
              <a:t>scroll</a:t>
            </a:r>
            <a:r>
              <a:rPr lang="fr-FR" sz="1400" dirty="0">
                <a:solidFill>
                  <a:schemeClr val="accent2"/>
                </a:solidFill>
              </a:rPr>
              <a:t>)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71A7745E-295A-82C6-E4F8-91B1E849D61F}"/>
              </a:ext>
            </a:extLst>
          </p:cNvPr>
          <p:cNvSpPr/>
          <p:nvPr/>
        </p:nvSpPr>
        <p:spPr>
          <a:xfrm>
            <a:off x="4754880" y="3063240"/>
            <a:ext cx="411480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0F68ED75-C9EC-DF06-ECE4-23E1D013BD1E}"/>
              </a:ext>
            </a:extLst>
          </p:cNvPr>
          <p:cNvSpPr/>
          <p:nvPr/>
        </p:nvSpPr>
        <p:spPr>
          <a:xfrm>
            <a:off x="4864608" y="31729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43247C03-0470-F543-1136-18D514A1E938}"/>
              </a:ext>
            </a:extLst>
          </p:cNvPr>
          <p:cNvSpPr/>
          <p:nvPr/>
        </p:nvSpPr>
        <p:spPr>
          <a:xfrm>
            <a:off x="530352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en haut</a:t>
            </a:r>
            <a:endParaRPr lang="en-US" sz="14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06653567-9C35-5FE1-5E03-94B850A07C54}"/>
              </a:ext>
            </a:extLst>
          </p:cNvPr>
          <p:cNvSpPr/>
          <p:nvPr/>
        </p:nvSpPr>
        <p:spPr>
          <a:xfrm>
            <a:off x="5303520" y="3502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>
                <a:solidFill>
                  <a:schemeClr val="accent2"/>
                </a:solidFill>
              </a:rPr>
              <a:t>Retour au sommet de page optimisé avec un comportement natif </a:t>
            </a:r>
            <a:r>
              <a:rPr lang="fr-FR" sz="1400" i="1" dirty="0" err="1">
                <a:solidFill>
                  <a:schemeClr val="accent2"/>
                </a:solidFill>
              </a:rPr>
              <a:t>smooth</a:t>
            </a:r>
            <a:r>
              <a:rPr lang="fr-FR" sz="1400" dirty="0">
                <a:solidFill>
                  <a:schemeClr val="accent2"/>
                </a:solidFill>
              </a:rPr>
              <a:t>.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6342BB47-7757-CBC9-489F-9DFBCFD56CB8}"/>
              </a:ext>
            </a:extLst>
          </p:cNvPr>
          <p:cNvSpPr/>
          <p:nvPr/>
        </p:nvSpPr>
        <p:spPr>
          <a:xfrm>
            <a:off x="2148840" y="4713316"/>
            <a:ext cx="4114800" cy="1178976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B62BD75C-A10E-965D-56FA-0824A84FB242}"/>
              </a:ext>
            </a:extLst>
          </p:cNvPr>
          <p:cNvSpPr/>
          <p:nvPr/>
        </p:nvSpPr>
        <p:spPr>
          <a:xfrm>
            <a:off x="2402378" y="4819904"/>
            <a:ext cx="633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00238C21-842F-36FA-7349-20B7ED7C8473}"/>
              </a:ext>
            </a:extLst>
          </p:cNvPr>
          <p:cNvSpPr/>
          <p:nvPr/>
        </p:nvSpPr>
        <p:spPr>
          <a:xfrm>
            <a:off x="3266902" y="4596938"/>
            <a:ext cx="3545378" cy="52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Fade-in sections</a:t>
            </a:r>
            <a:endParaRPr lang="en-US" sz="1400" dirty="0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CE065DEE-A5F3-648C-6831-78DD456B240E}"/>
              </a:ext>
            </a:extLst>
          </p:cNvPr>
          <p:cNvSpPr/>
          <p:nvPr/>
        </p:nvSpPr>
        <p:spPr>
          <a:xfrm>
            <a:off x="2788920" y="5261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dirty="0" err="1">
                <a:solidFill>
                  <a:schemeClr val="accent2"/>
                </a:solidFill>
              </a:rPr>
              <a:t>EffEffets</a:t>
            </a:r>
            <a:r>
              <a:rPr lang="fr-FR" sz="1400" dirty="0">
                <a:solidFill>
                  <a:schemeClr val="accent2"/>
                </a:solidFill>
              </a:rPr>
              <a:t> de </a:t>
            </a:r>
            <a:r>
              <a:rPr lang="fr-FR" sz="1400" i="1" dirty="0">
                <a:solidFill>
                  <a:schemeClr val="accent2"/>
                </a:solidFill>
              </a:rPr>
              <a:t>Fade-in</a:t>
            </a:r>
            <a:r>
              <a:rPr lang="fr-FR" sz="1400" dirty="0">
                <a:solidFill>
                  <a:schemeClr val="accent2"/>
                </a:solidFill>
              </a:rPr>
              <a:t> contrôlés pour dynamiser l'affichage des sections au </a:t>
            </a:r>
            <a:r>
              <a:rPr lang="fr-FR" sz="1400" dirty="0" err="1">
                <a:solidFill>
                  <a:schemeClr val="accent2"/>
                </a:solidFill>
              </a:rPr>
              <a:t>défilement.ets</a:t>
            </a:r>
            <a:r>
              <a:rPr lang="fr-FR" sz="1400" dirty="0">
                <a:solidFill>
                  <a:schemeClr val="accent2"/>
                </a:solidFill>
              </a:rPr>
              <a:t> de </a:t>
            </a:r>
            <a:r>
              <a:rPr lang="fr-FR" sz="1400" i="1" dirty="0">
                <a:solidFill>
                  <a:schemeClr val="accent2"/>
                </a:solidFill>
              </a:rPr>
              <a:t>Fade-in</a:t>
            </a:r>
            <a:r>
              <a:rPr lang="fr-FR" sz="1400" dirty="0">
                <a:solidFill>
                  <a:schemeClr val="accent2"/>
                </a:solidFill>
              </a:rPr>
              <a:t> contrôlés pour dynamiser l'affichage des sections au défilement</a:t>
            </a:r>
            <a:r>
              <a:rPr lang="fr-FR" sz="1200" dirty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962684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">
            <a:extLst>
              <a:ext uri="{FF2B5EF4-FFF2-40B4-BE49-F238E27FC236}">
                <a16:creationId xmlns:a16="http://schemas.microsoft.com/office/drawing/2014/main" id="{0FA198A4-A5D2-62F3-EEA9-FBBEFC80FD36}"/>
              </a:ext>
            </a:extLst>
          </p:cNvPr>
          <p:cNvSpPr/>
          <p:nvPr/>
        </p:nvSpPr>
        <p:spPr>
          <a:xfrm>
            <a:off x="1219200" y="173736"/>
            <a:ext cx="755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			09 — CSS avancé &amp; Bootstrap 5</a:t>
            </a:r>
            <a:endParaRPr lang="en-US" sz="24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543360C1-C79B-4C28-1EF6-0E692F768B1F}"/>
              </a:ext>
            </a:extLst>
          </p:cNvPr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CSS (:root)</a:t>
            </a:r>
            <a:endParaRPr lang="en-US" sz="13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FE82777E-6E17-AB28-068F-CD93715D07D7}"/>
              </a:ext>
            </a:extLst>
          </p:cNvPr>
          <p:cNvSpPr/>
          <p:nvPr/>
        </p:nvSpPr>
        <p:spPr>
          <a:xfrm>
            <a:off x="274320" y="150876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161133B-53BC-34CF-A3D0-5846FCA2C195}"/>
              </a:ext>
            </a:extLst>
          </p:cNvPr>
          <p:cNvSpPr/>
          <p:nvPr/>
        </p:nvSpPr>
        <p:spPr>
          <a:xfrm>
            <a:off x="274320" y="1508760"/>
            <a:ext cx="4114800" cy="232257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4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--color-primary:</a:t>
            </a:r>
            <a:r>
              <a:rPr kumimoji="0" lang="fr-FR" altLang="fr-FR" sz="1400" b="0" i="0" u="none" strike="noStrike" cap="none" normalizeH="0" baseline="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lang="fr-FR" sz="1400" b="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#443072</a:t>
            </a: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--color-secondary:</a:t>
            </a:r>
            <a:r>
              <a:rPr kumimoji="0" lang="fr-FR" altLang="fr-FR" sz="1200" b="0" i="0" u="none" strike="noStrike" cap="none" normalizeH="0" baseline="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lang="fr-FR" sz="1400" b="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#943de5</a:t>
            </a: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--color-accent:</a:t>
            </a:r>
            <a:r>
              <a:rPr kumimoji="0" lang="fr-FR" altLang="fr-FR" sz="1400" b="0" i="0" u="none" strike="noStrike" cap="none" normalizeH="0" baseline="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lang="fr-FR" sz="1400" b="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#ddd4ed</a:t>
            </a: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pPr marL="0" indent="0" algn="l">
              <a:buNone/>
            </a:pP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cs typeface="Courier New" pitchFamily="34" charset="-120"/>
              </a:rPr>
              <a:t>  --color-</a:t>
            </a:r>
            <a:r>
              <a:rPr lang="en-US" sz="1400" b="1" dirty="0" err="1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cs typeface="Courier New" pitchFamily="34" charset="-120"/>
              </a:rPr>
              <a:t>bg</a:t>
            </a: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cs typeface="Courier New" pitchFamily="34" charset="-120"/>
              </a:rPr>
              <a:t>:</a:t>
            </a:r>
            <a:r>
              <a:rPr kumimoji="0" lang="fr-FR" altLang="fr-FR" sz="1400" b="0" i="0" u="none" strike="noStrike" cap="none" normalizeH="0" baseline="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lang="fr-FR" sz="1400" b="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#eceaf1;</a:t>
            </a:r>
            <a:endParaRPr lang="en-US" sz="14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--font-title:  ‘outfit';</a:t>
            </a:r>
            <a:endParaRPr lang="en-US" sz="14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--font-body:     'Inter', sans-serif;</a:t>
            </a:r>
            <a:endParaRPr lang="en-US" sz="14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--spacing-lg:    2rem;</a:t>
            </a:r>
            <a:endParaRPr lang="en-US" sz="14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4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F2DC588E-E4F5-A55C-4DC0-0D0B227F4199}"/>
              </a:ext>
            </a:extLst>
          </p:cNvPr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Composants Bootstrap 5</a:t>
            </a:r>
            <a:endParaRPr lang="en-US" sz="13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7DBCB39C-AFF8-A232-11F4-31AA8E2E7843}"/>
              </a:ext>
            </a:extLst>
          </p:cNvPr>
          <p:cNvSpPr/>
          <p:nvPr/>
        </p:nvSpPr>
        <p:spPr>
          <a:xfrm>
            <a:off x="4754880" y="1536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Navbar responsive (hamburger)</a:t>
            </a:r>
            <a:endParaRPr lang="en-US" sz="11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FE77544D-8AA2-827E-1F73-F5EE69E87435}"/>
              </a:ext>
            </a:extLst>
          </p:cNvPr>
          <p:cNvSpPr/>
          <p:nvPr/>
        </p:nvSpPr>
        <p:spPr>
          <a:xfrm>
            <a:off x="4754880" y="1856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Grid system (col-12/md-6/lg-4)</a:t>
            </a:r>
            <a:endParaRPr lang="en-US" sz="11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9A17CDCD-8DA3-72DD-334E-8816BE0F6DCD}"/>
              </a:ext>
            </a:extLst>
          </p:cNvPr>
          <p:cNvSpPr/>
          <p:nvPr/>
        </p:nvSpPr>
        <p:spPr>
          <a:xfrm>
            <a:off x="4754880" y="2176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Cards (freelances, tarifs)</a:t>
            </a:r>
            <a:endParaRPr lang="en-US" sz="11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23F7AA85-E49C-CBE1-36DE-E15F3B339583}"/>
              </a:ext>
            </a:extLst>
          </p:cNvPr>
          <p:cNvSpPr/>
          <p:nvPr/>
        </p:nvSpPr>
        <p:spPr>
          <a:xfrm>
            <a:off x="4754880" y="2496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Carousel (témoignages)</a:t>
            </a:r>
            <a:endParaRPr lang="en-US" sz="11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FE2D6B8-D0D8-4F8E-48F9-8A73CD6222A3}"/>
              </a:ext>
            </a:extLst>
          </p:cNvPr>
          <p:cNvSpPr/>
          <p:nvPr/>
        </p:nvSpPr>
        <p:spPr>
          <a:xfrm>
            <a:off x="4754880" y="28163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Accordion (FAQ tarifs)</a:t>
            </a:r>
            <a:endParaRPr lang="en-US" sz="11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65505A5-EED5-AE2F-6D69-183CF5E2AE55}"/>
              </a:ext>
            </a:extLst>
          </p:cNvPr>
          <p:cNvSpPr/>
          <p:nvPr/>
        </p:nvSpPr>
        <p:spPr>
          <a:xfrm>
            <a:off x="4754880" y="3136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Modal</a:t>
            </a:r>
            <a:endParaRPr lang="en-US" sz="110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D0F1276E-0638-5EAA-224F-84467C714200}"/>
              </a:ext>
            </a:extLst>
          </p:cNvPr>
          <p:cNvSpPr/>
          <p:nvPr/>
        </p:nvSpPr>
        <p:spPr>
          <a:xfrm>
            <a:off x="4754880" y="3456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Bootstrap Icons</a:t>
            </a:r>
            <a:endParaRPr lang="en-US" sz="11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A9FCA2D3-41AE-5758-C983-695502C4DD0D}"/>
              </a:ext>
            </a:extLst>
          </p:cNvPr>
          <p:cNvSpPr/>
          <p:nvPr/>
        </p:nvSpPr>
        <p:spPr>
          <a:xfrm>
            <a:off x="457200" y="400507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 Design — testé sur 3 breakpoints : Mobile (375px) · Tablette (768px) · Desktop (1200px+)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556026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C66F0C3-507B-621C-692E-211D38D8CCF3}"/>
              </a:ext>
            </a:extLst>
          </p:cNvPr>
          <p:cNvSpPr/>
          <p:nvPr/>
        </p:nvSpPr>
        <p:spPr>
          <a:xfrm>
            <a:off x="1344168" y="172720"/>
            <a:ext cx="7119112" cy="83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			10 — GitHub &amp; Déploiement</a:t>
            </a:r>
            <a:endParaRPr lang="en-US" sz="24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70658ECC-968C-CA17-A4E7-C58D199507ED}"/>
              </a:ext>
            </a:extLst>
          </p:cNvPr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des 10 commits</a:t>
            </a:r>
            <a:endParaRPr lang="en-US" b="1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DA06322A-903C-3709-8FB4-85C3D6FA3900}"/>
              </a:ext>
            </a:extLst>
          </p:cNvPr>
          <p:cNvSpPr/>
          <p:nvPr/>
        </p:nvSpPr>
        <p:spPr>
          <a:xfrm>
            <a:off x="84124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C08C3CE-883C-978D-5B03-79EC396D1E24}"/>
              </a:ext>
            </a:extLst>
          </p:cNvPr>
          <p:cNvSpPr/>
          <p:nvPr/>
        </p:nvSpPr>
        <p:spPr>
          <a:xfrm>
            <a:off x="251460" y="2113788"/>
            <a:ext cx="1600200" cy="839724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CD221A02-197E-8C10-91F8-3DC0C6478E2A}"/>
              </a:ext>
            </a:extLst>
          </p:cNvPr>
          <p:cNvSpPr/>
          <p:nvPr/>
        </p:nvSpPr>
        <p:spPr>
          <a:xfrm>
            <a:off x="304800" y="2141220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commite1</a:t>
            </a:r>
          </a:p>
          <a:p>
            <a:pPr marL="0" indent="0" algn="l">
              <a:buNone/>
            </a:pPr>
            <a:endParaRPr lang="en-US" sz="8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: arborescence &amp; structure HTML</a:t>
            </a:r>
            <a:endParaRPr lang="en-US" sz="1200" b="1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548BA7D7-C77D-58BF-CF9B-5D05909D1D89}"/>
              </a:ext>
            </a:extLst>
          </p:cNvPr>
          <p:cNvSpPr/>
          <p:nvPr/>
        </p:nvSpPr>
        <p:spPr>
          <a:xfrm>
            <a:off x="2551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19EEE594-1377-4776-E1FC-2BDDBFF6534F}"/>
              </a:ext>
            </a:extLst>
          </p:cNvPr>
          <p:cNvSpPr/>
          <p:nvPr/>
        </p:nvSpPr>
        <p:spPr>
          <a:xfrm>
            <a:off x="1961388" y="2113788"/>
            <a:ext cx="1600200" cy="839724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497DA968-0CC4-B4F6-6297-2DF989280342}"/>
              </a:ext>
            </a:extLst>
          </p:cNvPr>
          <p:cNvSpPr/>
          <p:nvPr/>
        </p:nvSpPr>
        <p:spPr>
          <a:xfrm>
            <a:off x="2057400" y="216712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commite2</a:t>
            </a:r>
          </a:p>
          <a:p>
            <a:pPr marL="0" indent="0" algn="l">
              <a:buNone/>
            </a:pPr>
            <a:endParaRPr lang="en-US" sz="1000" b="1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: 5 pages complètes avec contenu</a:t>
            </a:r>
            <a:endParaRPr lang="en-US" sz="1200" b="1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F6951429-9272-19D6-B043-2D573D907BF6}"/>
              </a:ext>
            </a:extLst>
          </p:cNvPr>
          <p:cNvSpPr/>
          <p:nvPr/>
        </p:nvSpPr>
        <p:spPr>
          <a:xfrm>
            <a:off x="426110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BA089A34-2848-BE43-9D45-BCDA0EC4E684}"/>
              </a:ext>
            </a:extLst>
          </p:cNvPr>
          <p:cNvSpPr/>
          <p:nvPr/>
        </p:nvSpPr>
        <p:spPr>
          <a:xfrm>
            <a:off x="3694176" y="2121408"/>
            <a:ext cx="1600200" cy="839724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F76723E1-C3DA-33C4-A123-DA385ACCCFB9}"/>
              </a:ext>
            </a:extLst>
          </p:cNvPr>
          <p:cNvSpPr/>
          <p:nvPr/>
        </p:nvSpPr>
        <p:spPr>
          <a:xfrm>
            <a:off x="3767328" y="2167128"/>
            <a:ext cx="1463040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commite3</a:t>
            </a:r>
          </a:p>
          <a:p>
            <a:pPr marL="0" indent="0" algn="l">
              <a:buNone/>
            </a:pPr>
            <a:endParaRPr lang="en-US" sz="1000" b="1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variables, typo, layout général</a:t>
            </a:r>
            <a:endParaRPr lang="en-US" sz="1200" b="1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0C328D20-D28E-063F-0BB7-FF598529F254}"/>
              </a:ext>
            </a:extLst>
          </p:cNvPr>
          <p:cNvSpPr/>
          <p:nvPr/>
        </p:nvSpPr>
        <p:spPr>
          <a:xfrm>
            <a:off x="597103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78543473-A044-5778-424F-238DFF244EAE}"/>
              </a:ext>
            </a:extLst>
          </p:cNvPr>
          <p:cNvSpPr/>
          <p:nvPr/>
        </p:nvSpPr>
        <p:spPr>
          <a:xfrm>
            <a:off x="5404104" y="2121408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7AD0DF32-FFC5-EF8E-FC26-1733545C8F66}"/>
              </a:ext>
            </a:extLst>
          </p:cNvPr>
          <p:cNvSpPr/>
          <p:nvPr/>
        </p:nvSpPr>
        <p:spPr>
          <a:xfrm>
            <a:off x="5477256" y="216712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commite4</a:t>
            </a:r>
          </a:p>
          <a:p>
            <a:pPr marL="0" indent="0" algn="l">
              <a:buNone/>
            </a:pPr>
            <a:endParaRPr lang="en-US" sz="8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Bento Grid, Hero, hover effects</a:t>
            </a:r>
            <a:endParaRPr lang="en-US" sz="1200" b="1" dirty="0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6D8448B7-E2BD-72DE-FDC1-CD88000FBF11}"/>
              </a:ext>
            </a:extLst>
          </p:cNvPr>
          <p:cNvSpPr/>
          <p:nvPr/>
        </p:nvSpPr>
        <p:spPr>
          <a:xfrm>
            <a:off x="76809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9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6F98A6BA-0FBD-7179-5E7A-ABB82EB2ACBF}"/>
              </a:ext>
            </a:extLst>
          </p:cNvPr>
          <p:cNvSpPr/>
          <p:nvPr/>
        </p:nvSpPr>
        <p:spPr>
          <a:xfrm>
            <a:off x="7114032" y="2121408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F80230B1-ADDC-5CDD-5681-B58ECAA9A3CB}"/>
              </a:ext>
            </a:extLst>
          </p:cNvPr>
          <p:cNvSpPr/>
          <p:nvPr/>
        </p:nvSpPr>
        <p:spPr>
          <a:xfrm>
            <a:off x="7187184" y="216712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commite5</a:t>
            </a:r>
          </a:p>
          <a:p>
            <a:pPr marL="0" indent="0" algn="l">
              <a:buNone/>
            </a:pPr>
            <a:endParaRPr lang="en-US" sz="8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 + media queries</a:t>
            </a:r>
            <a:endParaRPr lang="en-US" sz="1200" b="1" dirty="0"/>
          </a:p>
        </p:txBody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39C7F62C-66D0-6E69-BECC-B4CB1D965649}"/>
              </a:ext>
            </a:extLst>
          </p:cNvPr>
          <p:cNvSpPr/>
          <p:nvPr/>
        </p:nvSpPr>
        <p:spPr>
          <a:xfrm>
            <a:off x="841248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900" dirty="0"/>
          </a:p>
        </p:txBody>
      </p:sp>
      <p:sp>
        <p:nvSpPr>
          <p:cNvPr id="20" name="Shape 25">
            <a:extLst>
              <a:ext uri="{FF2B5EF4-FFF2-40B4-BE49-F238E27FC236}">
                <a16:creationId xmlns:a16="http://schemas.microsoft.com/office/drawing/2014/main" id="{98F4B952-FE5F-04C4-AD50-4C19B46A6A23}"/>
              </a:ext>
            </a:extLst>
          </p:cNvPr>
          <p:cNvSpPr/>
          <p:nvPr/>
        </p:nvSpPr>
        <p:spPr>
          <a:xfrm>
            <a:off x="185928" y="3584448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1549D824-871E-C0CA-B791-B4ABFCF82DCF}"/>
              </a:ext>
            </a:extLst>
          </p:cNvPr>
          <p:cNvSpPr/>
          <p:nvPr/>
        </p:nvSpPr>
        <p:spPr>
          <a:xfrm>
            <a:off x="347472" y="363016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commite6</a:t>
            </a:r>
          </a:p>
          <a:p>
            <a:pPr marL="0" indent="0" algn="l">
              <a:buNone/>
            </a:pPr>
            <a:endParaRPr lang="en-US" sz="8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Dark mode + navbar dynamique</a:t>
            </a:r>
            <a:endParaRPr lang="en-US" sz="1200" b="1" dirty="0"/>
          </a:p>
        </p:txBody>
      </p:sp>
      <p:sp>
        <p:nvSpPr>
          <p:cNvPr id="22" name="Text 28">
            <a:extLst>
              <a:ext uri="{FF2B5EF4-FFF2-40B4-BE49-F238E27FC236}">
                <a16:creationId xmlns:a16="http://schemas.microsoft.com/office/drawing/2014/main" id="{C39C787E-FD32-7DC2-9149-98F4F31204A1}"/>
              </a:ext>
            </a:extLst>
          </p:cNvPr>
          <p:cNvSpPr/>
          <p:nvPr/>
        </p:nvSpPr>
        <p:spPr>
          <a:xfrm>
            <a:off x="2551176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900" dirty="0"/>
          </a:p>
        </p:txBody>
      </p:sp>
      <p:sp>
        <p:nvSpPr>
          <p:cNvPr id="23" name="Shape 29">
            <a:extLst>
              <a:ext uri="{FF2B5EF4-FFF2-40B4-BE49-F238E27FC236}">
                <a16:creationId xmlns:a16="http://schemas.microsoft.com/office/drawing/2014/main" id="{E1DAF94F-0A9D-3341-C75A-A2C353C26B63}"/>
              </a:ext>
            </a:extLst>
          </p:cNvPr>
          <p:cNvSpPr/>
          <p:nvPr/>
        </p:nvSpPr>
        <p:spPr>
          <a:xfrm>
            <a:off x="2014065" y="3593592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30">
            <a:extLst>
              <a:ext uri="{FF2B5EF4-FFF2-40B4-BE49-F238E27FC236}">
                <a16:creationId xmlns:a16="http://schemas.microsoft.com/office/drawing/2014/main" id="{745C6248-7D3A-5F21-337F-524B4AA28AA3}"/>
              </a:ext>
            </a:extLst>
          </p:cNvPr>
          <p:cNvSpPr/>
          <p:nvPr/>
        </p:nvSpPr>
        <p:spPr>
          <a:xfrm>
            <a:off x="2057400" y="363016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commite7</a:t>
            </a:r>
          </a:p>
          <a:p>
            <a:pPr marL="0" indent="0" algn="l">
              <a:buNone/>
            </a:pPr>
            <a:endParaRPr lang="en-US" sz="8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</a:t>
            </a:r>
            <a:r>
              <a:rPr lang="en-US" sz="12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animés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fade-in</a:t>
            </a:r>
            <a:endParaRPr lang="en-US" sz="1200" b="1" dirty="0"/>
          </a:p>
          <a:p>
            <a:pPr marL="0" indent="0" algn="l">
              <a:buNone/>
            </a:pPr>
            <a:endParaRPr lang="en-US" sz="8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32">
            <a:extLst>
              <a:ext uri="{FF2B5EF4-FFF2-40B4-BE49-F238E27FC236}">
                <a16:creationId xmlns:a16="http://schemas.microsoft.com/office/drawing/2014/main" id="{A73B7F30-86C4-19AF-ABE5-C17EB3757102}"/>
              </a:ext>
            </a:extLst>
          </p:cNvPr>
          <p:cNvSpPr/>
          <p:nvPr/>
        </p:nvSpPr>
        <p:spPr>
          <a:xfrm>
            <a:off x="4261104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900" dirty="0"/>
          </a:p>
        </p:txBody>
      </p:sp>
      <p:sp>
        <p:nvSpPr>
          <p:cNvPr id="26" name="Shape 33">
            <a:extLst>
              <a:ext uri="{FF2B5EF4-FFF2-40B4-BE49-F238E27FC236}">
                <a16:creationId xmlns:a16="http://schemas.microsoft.com/office/drawing/2014/main" id="{CD9B4BD2-78CB-8CFC-A979-61DBDAD1FAF4}"/>
              </a:ext>
            </a:extLst>
          </p:cNvPr>
          <p:cNvSpPr/>
          <p:nvPr/>
        </p:nvSpPr>
        <p:spPr>
          <a:xfrm>
            <a:off x="3694176" y="3584448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34">
            <a:extLst>
              <a:ext uri="{FF2B5EF4-FFF2-40B4-BE49-F238E27FC236}">
                <a16:creationId xmlns:a16="http://schemas.microsoft.com/office/drawing/2014/main" id="{7F852401-691A-48DE-A5B5-815299D6320C}"/>
              </a:ext>
            </a:extLst>
          </p:cNvPr>
          <p:cNvSpPr/>
          <p:nvPr/>
        </p:nvSpPr>
        <p:spPr>
          <a:xfrm>
            <a:off x="3767328" y="363016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commite8</a:t>
            </a:r>
          </a:p>
          <a:p>
            <a:pPr marL="0" indent="0" algn="l">
              <a:buNone/>
            </a:pPr>
            <a:endParaRPr lang="en-US" sz="8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</a:t>
            </a:r>
            <a:r>
              <a:rPr lang="en-US" sz="12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freelances + </a:t>
            </a:r>
            <a:r>
              <a:rPr lang="en-US" sz="12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endParaRPr lang="en-US" sz="1200" b="1" dirty="0"/>
          </a:p>
          <a:p>
            <a:pPr marL="0" indent="0" algn="l">
              <a:buNone/>
            </a:pPr>
            <a:endParaRPr lang="en-US" sz="8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8" name="Text 36">
            <a:extLst>
              <a:ext uri="{FF2B5EF4-FFF2-40B4-BE49-F238E27FC236}">
                <a16:creationId xmlns:a16="http://schemas.microsoft.com/office/drawing/2014/main" id="{3B8F1A4F-BEE6-B4ED-C4D6-1BAC56CCC25E}"/>
              </a:ext>
            </a:extLst>
          </p:cNvPr>
          <p:cNvSpPr/>
          <p:nvPr/>
        </p:nvSpPr>
        <p:spPr>
          <a:xfrm>
            <a:off x="5971032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Shape 37">
            <a:extLst>
              <a:ext uri="{FF2B5EF4-FFF2-40B4-BE49-F238E27FC236}">
                <a16:creationId xmlns:a16="http://schemas.microsoft.com/office/drawing/2014/main" id="{14D5F3C7-CCC3-30C4-71A2-3503816DCA44}"/>
              </a:ext>
            </a:extLst>
          </p:cNvPr>
          <p:cNvSpPr/>
          <p:nvPr/>
        </p:nvSpPr>
        <p:spPr>
          <a:xfrm>
            <a:off x="5404104" y="3584448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38">
            <a:extLst>
              <a:ext uri="{FF2B5EF4-FFF2-40B4-BE49-F238E27FC236}">
                <a16:creationId xmlns:a16="http://schemas.microsoft.com/office/drawing/2014/main" id="{7E1BCFB0-CCFF-E931-C81A-DB77B4094B6E}"/>
              </a:ext>
            </a:extLst>
          </p:cNvPr>
          <p:cNvSpPr/>
          <p:nvPr/>
        </p:nvSpPr>
        <p:spPr>
          <a:xfrm>
            <a:off x="5477256" y="363016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commite9</a:t>
            </a:r>
          </a:p>
          <a:p>
            <a:pPr marL="0" indent="0" algn="l">
              <a:buNone/>
            </a:pPr>
            <a:endParaRPr lang="en-US" sz="8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: corrections + </a:t>
            </a:r>
            <a:r>
              <a:rPr lang="en-US" sz="12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</a:t>
            </a:r>
            <a:endParaRPr lang="en-US" sz="1200" b="1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000" b="1" dirty="0"/>
          </a:p>
        </p:txBody>
      </p:sp>
      <p:sp>
        <p:nvSpPr>
          <p:cNvPr id="31" name="Text 40">
            <a:extLst>
              <a:ext uri="{FF2B5EF4-FFF2-40B4-BE49-F238E27FC236}">
                <a16:creationId xmlns:a16="http://schemas.microsoft.com/office/drawing/2014/main" id="{B2CB0CCA-A5FA-A617-883A-72F7345670F0}"/>
              </a:ext>
            </a:extLst>
          </p:cNvPr>
          <p:cNvSpPr/>
          <p:nvPr/>
        </p:nvSpPr>
        <p:spPr>
          <a:xfrm>
            <a:off x="76809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</a:t>
            </a:r>
            <a:endParaRPr lang="en-US" sz="900" dirty="0"/>
          </a:p>
        </p:txBody>
      </p:sp>
      <p:sp>
        <p:nvSpPr>
          <p:cNvPr id="32" name="Shape 41">
            <a:extLst>
              <a:ext uri="{FF2B5EF4-FFF2-40B4-BE49-F238E27FC236}">
                <a16:creationId xmlns:a16="http://schemas.microsoft.com/office/drawing/2014/main" id="{38446F68-6399-7AB1-0E82-83BE17B02F03}"/>
              </a:ext>
            </a:extLst>
          </p:cNvPr>
          <p:cNvSpPr/>
          <p:nvPr/>
        </p:nvSpPr>
        <p:spPr>
          <a:xfrm>
            <a:off x="7114032" y="3584448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3" name="Text 42">
            <a:extLst>
              <a:ext uri="{FF2B5EF4-FFF2-40B4-BE49-F238E27FC236}">
                <a16:creationId xmlns:a16="http://schemas.microsoft.com/office/drawing/2014/main" id="{865E9A2F-FD47-A084-A0BF-3C4E667E6EBA}"/>
              </a:ext>
            </a:extLst>
          </p:cNvPr>
          <p:cNvSpPr/>
          <p:nvPr/>
        </p:nvSpPr>
        <p:spPr>
          <a:xfrm>
            <a:off x="7202424" y="3410712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b="1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b="1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commite10</a:t>
            </a:r>
          </a:p>
          <a:p>
            <a:pPr marL="0" indent="0" algn="l">
              <a:buNone/>
            </a:pPr>
            <a:r>
              <a:rPr lang="en-US" sz="12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 Pages + README + </a:t>
            </a:r>
            <a:r>
              <a:rPr lang="en-US" sz="12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200" b="1" dirty="0"/>
          </a:p>
        </p:txBody>
      </p:sp>
      <p:sp>
        <p:nvSpPr>
          <p:cNvPr id="34" name="Text 44">
            <a:extLst>
              <a:ext uri="{FF2B5EF4-FFF2-40B4-BE49-F238E27FC236}">
                <a16:creationId xmlns:a16="http://schemas.microsoft.com/office/drawing/2014/main" id="{68EF5121-510E-C717-3E6E-94D24A37AD69}"/>
              </a:ext>
            </a:extLst>
          </p:cNvPr>
          <p:cNvSpPr/>
          <p:nvPr/>
        </p:nvSpPr>
        <p:spPr>
          <a:xfrm>
            <a:off x="457200" y="4571999"/>
            <a:ext cx="8229600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GitHub Pages activé — Site accessible en ligne · README complet avec captures d'écran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34330024"/>
      </p:ext>
    </p:extLst>
  </p:cSld>
  <p:clrMapOvr>
    <a:masterClrMapping/>
  </p:clrMapOvr>
  <p:transition spd="slow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E5BFF454-285B-827E-226F-1AA98A9B8D27}"/>
              </a:ext>
            </a:extLst>
          </p:cNvPr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				11 — Difficultés rencontrées &amp; Solutions</a:t>
            </a:r>
            <a:endParaRPr lang="en-US" sz="22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69F9034-B89D-12EE-525A-0B5587587527}"/>
              </a:ext>
            </a:extLst>
          </p:cNvPr>
          <p:cNvSpPr/>
          <p:nvPr/>
        </p:nvSpPr>
        <p:spPr>
          <a:xfrm>
            <a:off x="274320" y="1188720"/>
            <a:ext cx="41148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  <a:reflection blurRad="6350" stA="52000" endA="300" endPos="35000" dir="5400000" sy="-100000" algn="bl" rotWithShape="0"/>
          </a:effectLst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0BBC0A5-F732-702F-865C-80A09750C9AB}"/>
              </a:ext>
            </a:extLst>
          </p:cNvPr>
          <p:cNvSpPr/>
          <p:nvPr/>
        </p:nvSpPr>
        <p:spPr>
          <a:xfrm>
            <a:off x="411480" y="1298448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324B6EF7-13CF-6123-3916-BF316BDE5B3E}"/>
              </a:ext>
            </a:extLst>
          </p:cNvPr>
          <p:cNvSpPr/>
          <p:nvPr/>
        </p:nvSpPr>
        <p:spPr>
          <a:xfrm>
            <a:off x="41148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Bento Grid responsive</a:t>
            </a:r>
            <a:endParaRPr lang="en-US" sz="10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496F874-F4E4-D8D0-04AC-AFED0B995BFB}"/>
              </a:ext>
            </a:extLst>
          </p:cNvPr>
          <p:cNvSpPr/>
          <p:nvPr/>
        </p:nvSpPr>
        <p:spPr>
          <a:xfrm>
            <a:off x="457200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Les cartes de tailles inégales cassaient la mise en page sur mobile et tablette.</a:t>
            </a:r>
            <a:endParaRPr lang="en-US" sz="95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6EC42378-B399-F760-2439-3EC3C85F1E0C}"/>
              </a:ext>
            </a:extLst>
          </p:cNvPr>
          <p:cNvSpPr/>
          <p:nvPr/>
        </p:nvSpPr>
        <p:spPr>
          <a:xfrm>
            <a:off x="457200" y="22128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Utilisation de CSS Grid avec grid-template-areas et media queries pour redéfinir la grille selon le breakpoint.</a:t>
            </a:r>
            <a:endParaRPr lang="en-US" sz="95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354CE781-0103-FD9B-23C0-8DAA33936525}"/>
              </a:ext>
            </a:extLst>
          </p:cNvPr>
          <p:cNvSpPr/>
          <p:nvPr/>
        </p:nvSpPr>
        <p:spPr>
          <a:xfrm>
            <a:off x="4709160" y="1188720"/>
            <a:ext cx="41148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  <a:reflection blurRad="6350" stA="52000" endA="300" endPos="35000" dir="5400000" sy="-100000" algn="bl" rotWithShape="0"/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D8891AAF-1339-D50F-6341-FC8C55D9FED6}"/>
              </a:ext>
            </a:extLst>
          </p:cNvPr>
          <p:cNvSpPr/>
          <p:nvPr/>
        </p:nvSpPr>
        <p:spPr>
          <a:xfrm>
            <a:off x="4846320" y="1298448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F17BE72-BA4E-DDB9-8BF7-CD7740646A61}"/>
              </a:ext>
            </a:extLst>
          </p:cNvPr>
          <p:cNvSpPr/>
          <p:nvPr/>
        </p:nvSpPr>
        <p:spPr>
          <a:xfrm>
            <a:off x="484632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Dark Mode persistant</a:t>
            </a:r>
            <a:endParaRPr lang="en-US" sz="10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77ADD41-EDFD-8893-77DF-8C358E86DC0E}"/>
              </a:ext>
            </a:extLst>
          </p:cNvPr>
          <p:cNvSpPr/>
          <p:nvPr/>
        </p:nvSpPr>
        <p:spPr>
          <a:xfrm>
            <a:off x="4892040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Le mode </a:t>
            </a:r>
            <a:r>
              <a:rPr lang="en-US" sz="9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sombre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</a:t>
            </a:r>
            <a:r>
              <a:rPr lang="en-US" sz="9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disparaisse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9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change,ent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page.</a:t>
            </a:r>
            <a:endParaRPr lang="en-US" sz="95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5E25F068-2A00-AA90-2F5A-9E1ABD7C51C9}"/>
              </a:ext>
            </a:extLst>
          </p:cNvPr>
          <p:cNvSpPr/>
          <p:nvPr/>
        </p:nvSpPr>
        <p:spPr>
          <a:xfrm>
            <a:off x="4892040" y="22128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</a:t>
            </a:r>
            <a:r>
              <a:rPr lang="en-US" sz="950" dirty="0" err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950" dirty="0" err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</a:t>
            </a:r>
            <a:r>
              <a:rPr lang="en-US" sz="950" dirty="0" err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enrigistrer</a:t>
            </a: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choix de </a:t>
            </a:r>
            <a:r>
              <a:rPr lang="en-US" sz="950" dirty="0" err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lùutilisateur</a:t>
            </a: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7419452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D694613-F2A3-8FBC-BC9B-4001EBDA6AFF}"/>
              </a:ext>
            </a:extLst>
          </p:cNvPr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12 — Ressources &amp; Documentation</a:t>
            </a:r>
            <a:endParaRPr lang="en-US" sz="24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E9D11557-43B9-EEDC-0439-88D01F5D1B18}"/>
              </a:ext>
            </a:extLst>
          </p:cNvPr>
          <p:cNvSpPr/>
          <p:nvPr/>
        </p:nvSpPr>
        <p:spPr>
          <a:xfrm>
            <a:off x="365760" y="1179576"/>
            <a:ext cx="4114800" cy="1799684"/>
          </a:xfrm>
          <a:prstGeom prst="roundRect">
            <a:avLst>
              <a:gd name="adj" fmla="val 6316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  <a:softEdge rad="31750"/>
          </a:effectLst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65D50F64-4230-464D-D6BC-5ED0168DE336}"/>
              </a:ext>
            </a:extLst>
          </p:cNvPr>
          <p:cNvSpPr/>
          <p:nvPr/>
        </p:nvSpPr>
        <p:spPr>
          <a:xfrm>
            <a:off x="457200" y="1252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B6C9D8B-2599-4DEE-14E1-580DE1179EAD}"/>
              </a:ext>
            </a:extLst>
          </p:cNvPr>
          <p:cNvSpPr/>
          <p:nvPr/>
        </p:nvSpPr>
        <p:spPr>
          <a:xfrm>
            <a:off x="45720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MDN Web Docs — Référence HTML/CSS/JS</a:t>
            </a:r>
            <a:endParaRPr lang="en-US" sz="12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9F4E78D-CDBC-405C-946F-374BDBF648D0}"/>
              </a:ext>
            </a:extLst>
          </p:cNvPr>
          <p:cNvSpPr/>
          <p:nvPr/>
        </p:nvSpPr>
        <p:spPr>
          <a:xfrm>
            <a:off x="457200" y="1993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Bootstrap 5 Docs — Composants &amp; grille</a:t>
            </a:r>
            <a:endParaRPr lang="en-US" sz="12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AEC504F-A639-42C8-D7CA-32370DAB5DAD}"/>
              </a:ext>
            </a:extLst>
          </p:cNvPr>
          <p:cNvSpPr/>
          <p:nvPr/>
        </p:nvSpPr>
        <p:spPr>
          <a:xfrm>
            <a:off x="457200" y="2340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 Documentation — Commandes Git</a:t>
            </a:r>
            <a:endParaRPr lang="en-US" sz="105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F9831DA4-79E9-6610-A0EF-54EE7D3FE632}"/>
              </a:ext>
            </a:extLst>
          </p:cNvPr>
          <p:cNvSpPr/>
          <p:nvPr/>
        </p:nvSpPr>
        <p:spPr>
          <a:xfrm>
            <a:off x="5200049" y="1179576"/>
            <a:ext cx="4114800" cy="1871632"/>
          </a:xfrm>
          <a:prstGeom prst="roundRect">
            <a:avLst>
              <a:gd name="adj" fmla="val 6316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  <a:softEdge rad="31750"/>
          </a:effectLst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ED639CC-7D23-B9A9-CE01-FD260CCB826E}"/>
              </a:ext>
            </a:extLst>
          </p:cNvPr>
          <p:cNvSpPr/>
          <p:nvPr/>
        </p:nvSpPr>
        <p:spPr>
          <a:xfrm>
            <a:off x="5469556" y="130987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Inspiration</a:t>
            </a:r>
            <a:endParaRPr lang="en-US" sz="1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AFCF7DF-6CD7-89A5-7A52-C95BCC67E9C8}"/>
              </a:ext>
            </a:extLst>
          </p:cNvPr>
          <p:cNvSpPr/>
          <p:nvPr/>
        </p:nvSpPr>
        <p:spPr>
          <a:xfrm>
            <a:off x="5296301" y="163449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Awwwards — Design web haut de gamme</a:t>
            </a:r>
            <a:endParaRPr lang="en-US" sz="14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2A138D0-4731-1F7C-9CB6-AC8771044148}"/>
              </a:ext>
            </a:extLst>
          </p:cNvPr>
          <p:cNvSpPr/>
          <p:nvPr/>
        </p:nvSpPr>
        <p:spPr>
          <a:xfrm>
            <a:off x="5296301" y="195453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Dribbble — Inspiration UI/UX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81C6997-BB57-190B-9C92-81E63FF503F8}"/>
              </a:ext>
            </a:extLst>
          </p:cNvPr>
          <p:cNvSpPr/>
          <p:nvPr/>
        </p:nvSpPr>
        <p:spPr>
          <a:xfrm>
            <a:off x="5296301" y="2321433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Coolors.co — Générateur de palette</a:t>
            </a:r>
            <a:endParaRPr lang="en-US" sz="14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2B87E18-0097-C447-9C83-FDD19CD25039}"/>
              </a:ext>
            </a:extLst>
          </p:cNvPr>
          <p:cNvSpPr/>
          <p:nvPr/>
        </p:nvSpPr>
        <p:spPr>
          <a:xfrm>
            <a:off x="5296301" y="26592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Google Fonts — Polices Playfair + Inter</a:t>
            </a:r>
            <a:endParaRPr lang="en-US" sz="14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7FDB08B8-D545-2386-EE06-4D27A281CDDF}"/>
              </a:ext>
            </a:extLst>
          </p:cNvPr>
          <p:cNvSpPr/>
          <p:nvPr/>
        </p:nvSpPr>
        <p:spPr>
          <a:xfrm>
            <a:off x="365760" y="3275718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  <a:softEdge rad="31750"/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AE569483-53FC-169F-8EB6-CD56F5EEEE13}"/>
              </a:ext>
            </a:extLst>
          </p:cNvPr>
          <p:cNvSpPr/>
          <p:nvPr/>
        </p:nvSpPr>
        <p:spPr>
          <a:xfrm>
            <a:off x="731520" y="322097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 &amp; Icônes</a:t>
            </a:r>
            <a:endParaRPr lang="en-US" sz="16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05C33F6-5376-041A-F334-112AD2B8B9CC}"/>
              </a:ext>
            </a:extLst>
          </p:cNvPr>
          <p:cNvSpPr/>
          <p:nvPr/>
        </p:nvSpPr>
        <p:spPr>
          <a:xfrm>
            <a:off x="457200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Unsplash — Photos libres de droits</a:t>
            </a:r>
            <a:endParaRPr lang="en-US" sz="14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B0968094-A3DC-2E69-244C-14B56DB61A90}"/>
              </a:ext>
            </a:extLst>
          </p:cNvPr>
          <p:cNvSpPr/>
          <p:nvPr/>
        </p:nvSpPr>
        <p:spPr>
          <a:xfrm>
            <a:off x="457200" y="3913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Pexels — Images freelances</a:t>
            </a:r>
            <a:endParaRPr lang="en-US" sz="14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96CA1BA6-19A0-3296-B1F9-5D749DF943FF}"/>
              </a:ext>
            </a:extLst>
          </p:cNvPr>
          <p:cNvSpPr/>
          <p:nvPr/>
        </p:nvSpPr>
        <p:spPr>
          <a:xfrm>
            <a:off x="457200" y="42611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Bootstrap Icons — Icônes du projet</a:t>
            </a:r>
            <a:endParaRPr lang="en-US" sz="14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DECCFD07-1196-B838-F645-0FF8296AB8A5}"/>
              </a:ext>
            </a:extLst>
          </p:cNvPr>
          <p:cNvSpPr/>
          <p:nvPr/>
        </p:nvSpPr>
        <p:spPr>
          <a:xfrm>
            <a:off x="5200049" y="3324566"/>
            <a:ext cx="4114800" cy="1639664"/>
          </a:xfrm>
          <a:prstGeom prst="roundRect">
            <a:avLst>
              <a:gd name="adj" fmla="val 6316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  <a:softEdge rad="31750"/>
          </a:effectLst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DBD1C758-CD86-A554-DE46-74500115B85B}"/>
              </a:ext>
            </a:extLst>
          </p:cNvPr>
          <p:cNvSpPr/>
          <p:nvPr/>
        </p:nvSpPr>
        <p:spPr>
          <a:xfrm>
            <a:off x="5565809" y="338099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3702F960-A830-637E-5939-15C08E2EDFC9}"/>
              </a:ext>
            </a:extLst>
          </p:cNvPr>
          <p:cNvSpPr/>
          <p:nvPr/>
        </p:nvSpPr>
        <p:spPr>
          <a:xfrm>
            <a:off x="5303520" y="38084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W3C Validator — HTML sans erreur</a:t>
            </a:r>
            <a:endParaRPr lang="en-US" sz="14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03EE6EB0-3B83-FBA9-2D15-A26327CC4817}"/>
              </a:ext>
            </a:extLst>
          </p:cNvPr>
          <p:cNvSpPr/>
          <p:nvPr/>
        </p:nvSpPr>
        <p:spPr>
          <a:xfrm>
            <a:off x="4892040" y="3913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8771676B-C463-D7BC-EFAC-D2BE9DF0A928}"/>
              </a:ext>
            </a:extLst>
          </p:cNvPr>
          <p:cNvSpPr/>
          <p:nvPr/>
        </p:nvSpPr>
        <p:spPr>
          <a:xfrm>
            <a:off x="4892040" y="42611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8821368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0F177744-38FE-3FCE-5F5D-30733A8152D8}"/>
              </a:ext>
            </a:extLst>
          </p:cNvPr>
          <p:cNvSpPr/>
          <p:nvPr/>
        </p:nvSpPr>
        <p:spPr>
          <a:xfrm>
            <a:off x="472841" y="782173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6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AED8BC8F-049D-3109-AA6A-78B41B4469B6}"/>
              </a:ext>
            </a:extLst>
          </p:cNvPr>
          <p:cNvSpPr/>
          <p:nvPr/>
        </p:nvSpPr>
        <p:spPr>
          <a:xfrm>
            <a:off x="1150219" y="493776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live</a:t>
            </a:r>
            <a:endParaRPr lang="en-US" sz="48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30B7DBFD-1724-8740-EC99-1140BC7B518F}"/>
              </a:ext>
            </a:extLst>
          </p:cNvPr>
          <p:cNvSpPr/>
          <p:nvPr/>
        </p:nvSpPr>
        <p:spPr>
          <a:xfrm>
            <a:off x="1371600" y="16276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site AfriTalent</a:t>
            </a:r>
            <a:endParaRPr lang="en-US" sz="36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F24053C-63C7-3AEC-BC3B-58FF69ADFD50}"/>
              </a:ext>
            </a:extLst>
          </p:cNvPr>
          <p:cNvSpPr/>
          <p:nvPr/>
        </p:nvSpPr>
        <p:spPr>
          <a:xfrm>
            <a:off x="457200" y="292608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1EADD6B9-7EA3-DC88-D0A2-7432C816D621}"/>
              </a:ext>
            </a:extLst>
          </p:cNvPr>
          <p:cNvSpPr/>
          <p:nvPr/>
        </p:nvSpPr>
        <p:spPr>
          <a:xfrm>
            <a:off x="640080" y="29260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Accueil — Hero &amp; compteurs animés</a:t>
            </a:r>
            <a:endParaRPr lang="en-US" sz="12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6687781-736A-87F5-EE75-5080060C5B60}"/>
              </a:ext>
            </a:extLst>
          </p:cNvPr>
          <p:cNvSpPr/>
          <p:nvPr/>
        </p:nvSpPr>
        <p:spPr>
          <a:xfrm>
            <a:off x="457200" y="338328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C5388AD-6296-7D95-511D-B9EE9555B0CE}"/>
              </a:ext>
            </a:extLst>
          </p:cNvPr>
          <p:cNvSpPr/>
          <p:nvPr/>
        </p:nvSpPr>
        <p:spPr>
          <a:xfrm>
            <a:off x="640080" y="33832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Freelances — Filtrage dynamique JS</a:t>
            </a:r>
            <a:endParaRPr lang="en-US" sz="12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F833E67-07A6-E3F0-6D90-343FF94C224E}"/>
              </a:ext>
            </a:extLst>
          </p:cNvPr>
          <p:cNvSpPr/>
          <p:nvPr/>
        </p:nvSpPr>
        <p:spPr>
          <a:xfrm>
            <a:off x="457200" y="384048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99213F59-C7EE-798C-C270-2AC8AC7EAC1A}"/>
              </a:ext>
            </a:extLst>
          </p:cNvPr>
          <p:cNvSpPr/>
          <p:nvPr/>
        </p:nvSpPr>
        <p:spPr>
          <a:xfrm>
            <a:off x="640080" y="3840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Dark Mode — Bascule &amp; persistance</a:t>
            </a:r>
            <a:endParaRPr lang="en-US" sz="12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E2D5206-CCEA-AF4E-2254-5304FAFE91FA}"/>
              </a:ext>
            </a:extLst>
          </p:cNvPr>
          <p:cNvSpPr/>
          <p:nvPr/>
        </p:nvSpPr>
        <p:spPr>
          <a:xfrm>
            <a:off x="457200" y="429768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E252B31E-1540-5032-B7EE-2C604C574583}"/>
              </a:ext>
            </a:extLst>
          </p:cNvPr>
          <p:cNvSpPr/>
          <p:nvPr/>
        </p:nvSpPr>
        <p:spPr>
          <a:xfrm>
            <a:off x="640080" y="42976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Contact — Validation de formulaire</a:t>
            </a:r>
            <a:endParaRPr lang="en-US" sz="12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2A9A416-F46D-9729-C255-CAB363A7CEDA}"/>
              </a:ext>
            </a:extLst>
          </p:cNvPr>
          <p:cNvSpPr/>
          <p:nvPr/>
        </p:nvSpPr>
        <p:spPr>
          <a:xfrm>
            <a:off x="1064794" y="5321807"/>
            <a:ext cx="5751642" cy="646331"/>
          </a:xfrm>
          <a:prstGeom prst="roundRect">
            <a:avLst>
              <a:gd name="adj" fmla="val 25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5746F18A-2BD0-D2FB-F6E7-D03A12FE798F}"/>
              </a:ext>
            </a:extLst>
          </p:cNvPr>
          <p:cNvSpPr/>
          <p:nvPr/>
        </p:nvSpPr>
        <p:spPr>
          <a:xfrm>
            <a:off x="-457200" y="5527187"/>
            <a:ext cx="365760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</a:t>
            </a:r>
            <a:endParaRPr lang="fr-FR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1EC788C-6DAA-BEFA-ACEF-CC39DB38DEF8}"/>
              </a:ext>
            </a:extLst>
          </p:cNvPr>
          <p:cNvSpPr txBox="1"/>
          <p:nvPr/>
        </p:nvSpPr>
        <p:spPr>
          <a:xfrm>
            <a:off x="1371600" y="5321807"/>
            <a:ext cx="6325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0" u="sng" dirty="0">
                <a:solidFill>
                  <a:srgbClr val="0969DA"/>
                </a:solidFill>
                <a:effectLst/>
                <a:latin typeface="Mona Sans VF"/>
                <a:hlinkClick r:id="rId2"/>
              </a:rPr>
              <a:t> https://ndeye-sylla-tague.github.io/Tague-NdeyeSylla-Afritalent/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9464569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F1F8A32-294E-FCF4-D367-76F0B42B0BE7}"/>
              </a:ext>
            </a:extLst>
          </p:cNvPr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		</a:t>
            </a: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14 — Conclusion &amp; Perspectives</a:t>
            </a:r>
            <a:endParaRPr lang="en-US" sz="32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24AC4A4D-9DF2-1F15-6CE6-E999F465464A}"/>
              </a:ext>
            </a:extLst>
          </p:cNvPr>
          <p:cNvSpPr/>
          <p:nvPr/>
        </p:nvSpPr>
        <p:spPr>
          <a:xfrm>
            <a:off x="831142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projet m'a permis de maîtriser :</a:t>
            </a:r>
            <a:endParaRPr lang="en-US" sz="20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CFAA9C8E-8807-DAD9-CC53-886A5EC6ABD2}"/>
              </a:ext>
            </a:extLst>
          </p:cNvPr>
          <p:cNvSpPr/>
          <p:nvPr/>
        </p:nvSpPr>
        <p:spPr>
          <a:xfrm>
            <a:off x="274320" y="1600199"/>
            <a:ext cx="2743200" cy="1413469"/>
          </a:xfrm>
          <a:prstGeom prst="roundRect">
            <a:avLst>
              <a:gd name="adj" fmla="val 9231"/>
            </a:avLst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/>
          <a:lstStyle/>
          <a:p>
            <a:endParaRPr lang="fr-FR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01C34EC-0691-DA88-319C-C646F8BF5A94}"/>
              </a:ext>
            </a:extLst>
          </p:cNvPr>
          <p:cNvSpPr/>
          <p:nvPr/>
        </p:nvSpPr>
        <p:spPr>
          <a:xfrm>
            <a:off x="365760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7710D89-2BDA-F8C1-8746-6940B9BE92F8}"/>
              </a:ext>
            </a:extLst>
          </p:cNvPr>
          <p:cNvSpPr/>
          <p:nvPr/>
        </p:nvSpPr>
        <p:spPr>
          <a:xfrm>
            <a:off x="1033272" y="183601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sémantique</a:t>
            </a:r>
            <a:endParaRPr lang="en-US" sz="12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C6976A1-39F1-376E-1426-CD117A5ABED1}"/>
              </a:ext>
            </a:extLst>
          </p:cNvPr>
          <p:cNvSpPr/>
          <p:nvPr/>
        </p:nvSpPr>
        <p:spPr>
          <a:xfrm>
            <a:off x="966017" y="234327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validées W3C</a:t>
            </a:r>
            <a:endParaRPr lang="en-US" sz="10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D555EBE7-0616-2B08-E171-78C8490156EB}"/>
              </a:ext>
            </a:extLst>
          </p:cNvPr>
          <p:cNvSpPr/>
          <p:nvPr/>
        </p:nvSpPr>
        <p:spPr>
          <a:xfrm>
            <a:off x="3227832" y="1600200"/>
            <a:ext cx="2743200" cy="1413468"/>
          </a:xfrm>
          <a:prstGeom prst="roundRect">
            <a:avLst>
              <a:gd name="adj" fmla="val 9231"/>
            </a:avLst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060B45A8-135D-4D62-8257-888BDDE1D64F}"/>
              </a:ext>
            </a:extLst>
          </p:cNvPr>
          <p:cNvSpPr/>
          <p:nvPr/>
        </p:nvSpPr>
        <p:spPr>
          <a:xfrm>
            <a:off x="3319272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3ABB3FAC-FA09-5B7A-2ED3-253399495E80}"/>
              </a:ext>
            </a:extLst>
          </p:cNvPr>
          <p:cNvSpPr/>
          <p:nvPr/>
        </p:nvSpPr>
        <p:spPr>
          <a:xfrm>
            <a:off x="3986783" y="185394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avancé</a:t>
            </a:r>
            <a:endParaRPr lang="en-US" sz="12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D427C68-5CD7-E88A-DA2A-C3B661C1CBA5}"/>
              </a:ext>
            </a:extLst>
          </p:cNvPr>
          <p:cNvSpPr/>
          <p:nvPr/>
        </p:nvSpPr>
        <p:spPr>
          <a:xfrm>
            <a:off x="3755417" y="234327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Grid, animations, responsive</a:t>
            </a:r>
            <a:endParaRPr lang="en-US" sz="10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C04FC9CB-C903-18BF-6FD6-412D69889E90}"/>
              </a:ext>
            </a:extLst>
          </p:cNvPr>
          <p:cNvSpPr/>
          <p:nvPr/>
        </p:nvSpPr>
        <p:spPr>
          <a:xfrm>
            <a:off x="6235808" y="1618488"/>
            <a:ext cx="3087703" cy="1395180"/>
          </a:xfrm>
          <a:prstGeom prst="roundRect">
            <a:avLst>
              <a:gd name="adj" fmla="val 9231"/>
            </a:avLst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53228F7-7F6B-DAB4-7040-D7F656348463}"/>
              </a:ext>
            </a:extLst>
          </p:cNvPr>
          <p:cNvSpPr/>
          <p:nvPr/>
        </p:nvSpPr>
        <p:spPr>
          <a:xfrm>
            <a:off x="6272784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E746FD3-D223-E059-1F55-F6279F6DE903}"/>
              </a:ext>
            </a:extLst>
          </p:cNvPr>
          <p:cNvSpPr/>
          <p:nvPr/>
        </p:nvSpPr>
        <p:spPr>
          <a:xfrm>
            <a:off x="694984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</a:t>
            </a:r>
            <a:endParaRPr lang="en-US" sz="16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6EDD3575-4100-C895-89A9-16B59C57ECE8}"/>
              </a:ext>
            </a:extLst>
          </p:cNvPr>
          <p:cNvSpPr/>
          <p:nvPr/>
        </p:nvSpPr>
        <p:spPr>
          <a:xfrm>
            <a:off x="6756694" y="2343270"/>
            <a:ext cx="230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sans framework</a:t>
            </a:r>
            <a:endParaRPr lang="en-US" sz="12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DC52A78C-6F55-C67F-E46A-76E07FA28389}"/>
              </a:ext>
            </a:extLst>
          </p:cNvPr>
          <p:cNvSpPr/>
          <p:nvPr/>
        </p:nvSpPr>
        <p:spPr>
          <a:xfrm>
            <a:off x="221682" y="3585892"/>
            <a:ext cx="2743200" cy="1413469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/>
          <a:lstStyle/>
          <a:p>
            <a:endParaRPr lang="fr-FR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F6729C3F-2F67-D993-1D1E-958827F6416C}"/>
              </a:ext>
            </a:extLst>
          </p:cNvPr>
          <p:cNvSpPr/>
          <p:nvPr/>
        </p:nvSpPr>
        <p:spPr>
          <a:xfrm>
            <a:off x="499371" y="360033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20F58427-E05D-A3D7-7BCC-6BE2E97B8571}"/>
              </a:ext>
            </a:extLst>
          </p:cNvPr>
          <p:cNvSpPr/>
          <p:nvPr/>
        </p:nvSpPr>
        <p:spPr>
          <a:xfrm>
            <a:off x="1136082" y="3786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2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1CCDFC2B-4BBA-5729-0919-1BA126A99ABE}"/>
              </a:ext>
            </a:extLst>
          </p:cNvPr>
          <p:cNvSpPr/>
          <p:nvPr/>
        </p:nvSpPr>
        <p:spPr>
          <a:xfrm>
            <a:off x="801875" y="434436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Grid, composants, personnalisation</a:t>
            </a:r>
            <a:endParaRPr lang="en-US" sz="100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CCAAB680-2F5D-8218-5310-E39387007AE5}"/>
              </a:ext>
            </a:extLst>
          </p:cNvPr>
          <p:cNvSpPr/>
          <p:nvPr/>
        </p:nvSpPr>
        <p:spPr>
          <a:xfrm>
            <a:off x="3200400" y="3590704"/>
            <a:ext cx="2743200" cy="1403844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/>
          <a:lstStyle/>
          <a:p>
            <a:endParaRPr lang="fr-FR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76031686-5C6A-3440-C7D7-08E211CD8B1A}"/>
              </a:ext>
            </a:extLst>
          </p:cNvPr>
          <p:cNvSpPr/>
          <p:nvPr/>
        </p:nvSpPr>
        <p:spPr>
          <a:xfrm>
            <a:off x="3465697" y="370572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🐙</a:t>
            </a:r>
            <a:endParaRPr lang="en-US" sz="26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22C8938A-EFDC-1CEA-F2C8-CEE7052C2ABB}"/>
              </a:ext>
            </a:extLst>
          </p:cNvPr>
          <p:cNvSpPr/>
          <p:nvPr/>
        </p:nvSpPr>
        <p:spPr>
          <a:xfrm>
            <a:off x="4105777" y="3850827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96853407-A205-4FAF-1DBA-A1919A354B04}"/>
              </a:ext>
            </a:extLst>
          </p:cNvPr>
          <p:cNvSpPr/>
          <p:nvPr/>
        </p:nvSpPr>
        <p:spPr>
          <a:xfrm>
            <a:off x="3854196" y="434580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commits, GitHub Pages</a:t>
            </a:r>
            <a:endParaRPr lang="en-US" sz="100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8E262B6E-0E1E-1FFE-DE57-B13DCE9EA4BD}"/>
              </a:ext>
            </a:extLst>
          </p:cNvPr>
          <p:cNvSpPr/>
          <p:nvPr/>
        </p:nvSpPr>
        <p:spPr>
          <a:xfrm>
            <a:off x="6263400" y="3595518"/>
            <a:ext cx="3060111" cy="1403844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44130B62-AD08-396E-CCC3-FB73998BCC25}"/>
              </a:ext>
            </a:extLst>
          </p:cNvPr>
          <p:cNvSpPr/>
          <p:nvPr/>
        </p:nvSpPr>
        <p:spPr>
          <a:xfrm>
            <a:off x="6702552" y="3675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🎤</a:t>
            </a:r>
            <a:endParaRPr lang="en-US" sz="26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1DEE8D15-8307-2884-AA6E-4C7C49E3B7B3}"/>
              </a:ext>
            </a:extLst>
          </p:cNvPr>
          <p:cNvSpPr/>
          <p:nvPr/>
        </p:nvSpPr>
        <p:spPr>
          <a:xfrm>
            <a:off x="7388112" y="3841683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600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CA7219B0-C0DE-950C-D765-FE8748A4DA5B}"/>
              </a:ext>
            </a:extLst>
          </p:cNvPr>
          <p:cNvSpPr/>
          <p:nvPr/>
        </p:nvSpPr>
        <p:spPr>
          <a:xfrm>
            <a:off x="6912864" y="426784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outenance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orale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professionnelle</a:t>
            </a:r>
            <a:endParaRPr lang="en-US" sz="1200" dirty="0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38B82CFA-406E-3EF9-2BA7-7D27EF38B96D}"/>
              </a:ext>
            </a:extLst>
          </p:cNvPr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7660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387F33F9-2CB2-C4C2-EC0F-80850DC30FA4}"/>
              </a:ext>
            </a:extLst>
          </p:cNvPr>
          <p:cNvSpPr/>
          <p:nvPr/>
        </p:nvSpPr>
        <p:spPr>
          <a:xfrm>
            <a:off x="1493520" y="457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44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11E7E98C-41F9-E403-CE95-1A966044EEC3}"/>
              </a:ext>
            </a:extLst>
          </p:cNvPr>
          <p:cNvSpPr/>
          <p:nvPr/>
        </p:nvSpPr>
        <p:spPr>
          <a:xfrm>
            <a:off x="1097280" y="2285999"/>
            <a:ext cx="8229600" cy="160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questions ?</a:t>
            </a:r>
            <a:endParaRPr lang="en-US" sz="28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B28AC778-6C12-9F13-5AE6-3829DCB69283}"/>
              </a:ext>
            </a:extLst>
          </p:cNvPr>
          <p:cNvSpPr/>
          <p:nvPr/>
        </p:nvSpPr>
        <p:spPr>
          <a:xfrm>
            <a:off x="228600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C1AC1104-1BF8-10B0-0C24-0AAE9DEB7C0C}"/>
              </a:ext>
            </a:extLst>
          </p:cNvPr>
          <p:cNvSpPr/>
          <p:nvPr/>
        </p:nvSpPr>
        <p:spPr>
          <a:xfrm>
            <a:off x="1097280" y="4114799"/>
            <a:ext cx="1371600" cy="1207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D4B5BF8-32E6-FC71-5A94-C0B405E6DD58}"/>
              </a:ext>
            </a:extLst>
          </p:cNvPr>
          <p:cNvSpPr/>
          <p:nvPr/>
        </p:nvSpPr>
        <p:spPr>
          <a:xfrm>
            <a:off x="2926080" y="4114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75FFFF24-DD7E-6F3C-A676-5F947A32FB72}"/>
              </a:ext>
            </a:extLst>
          </p:cNvPr>
          <p:cNvSpPr/>
          <p:nvPr/>
        </p:nvSpPr>
        <p:spPr>
          <a:xfrm>
            <a:off x="292608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F70066AC-C90E-6CD7-ED91-D7203A7A6AA5}"/>
              </a:ext>
            </a:extLst>
          </p:cNvPr>
          <p:cNvSpPr/>
          <p:nvPr/>
        </p:nvSpPr>
        <p:spPr>
          <a:xfrm>
            <a:off x="2926080" y="4114800"/>
            <a:ext cx="2938112" cy="1207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403F3555-83D7-48EC-7828-186B3D9CC5F3}"/>
              </a:ext>
            </a:extLst>
          </p:cNvPr>
          <p:cNvSpPr/>
          <p:nvPr/>
        </p:nvSpPr>
        <p:spPr>
          <a:xfrm>
            <a:off x="5608320" y="4114800"/>
            <a:ext cx="3891815" cy="1207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CD89E727-654B-87AB-2869-DE83FA129E64}"/>
              </a:ext>
            </a:extLst>
          </p:cNvPr>
          <p:cNvSpPr/>
          <p:nvPr/>
        </p:nvSpPr>
        <p:spPr>
          <a:xfrm>
            <a:off x="5864192" y="4892040"/>
            <a:ext cx="3462688" cy="517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597788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1054</TotalTime>
  <Words>1149</Words>
  <Application>Microsoft Office PowerPoint</Application>
  <PresentationFormat>Grand écran</PresentationFormat>
  <Paragraphs>228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6" baseType="lpstr">
      <vt:lpstr>Arial</vt:lpstr>
      <vt:lpstr>Arial Narrow</vt:lpstr>
      <vt:lpstr>Bahnschrift Condensed</vt:lpstr>
      <vt:lpstr>Bahnschrift SemiCondensed</vt:lpstr>
      <vt:lpstr>Calibri</vt:lpstr>
      <vt:lpstr>Cambria</vt:lpstr>
      <vt:lpstr>Consolas</vt:lpstr>
      <vt:lpstr>Courier New</vt:lpstr>
      <vt:lpstr>Mona Sans VF</vt:lpstr>
      <vt:lpstr>Tw Cen MT</vt:lpstr>
      <vt:lpstr>Circuit</vt:lpstr>
      <vt:lpstr>AfriTalent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Baay Fall Khidma</dc:creator>
  <cp:lastModifiedBy>Baay Fall Khidma</cp:lastModifiedBy>
  <cp:revision>3</cp:revision>
  <dcterms:created xsi:type="dcterms:W3CDTF">2026-06-23T16:13:59Z</dcterms:created>
  <dcterms:modified xsi:type="dcterms:W3CDTF">2026-06-24T09:49:54Z</dcterms:modified>
</cp:coreProperties>
</file>